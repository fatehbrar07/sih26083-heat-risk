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F97316"/>
                </a:solidFill>
                <a:latin typeface="Arial"/>
              </a:defRPr>
            </a:pPr>
            <a:r>
              <a:t>SMART INDIA HACKATHON 2026  •  OFFICIAL PROPOSAL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Arial"/>
              </a:defRPr>
            </a:pPr>
            <a:r>
              <a:t>ThermoShield</a:t>
            </a:r>
          </a:p>
          <a:p>
            <a:pPr>
              <a:spcBef>
                <a:spcPts val="600"/>
              </a:spcBef>
              <a:defRPr sz="1800" b="1">
                <a:solidFill>
                  <a:srgbClr val="38BDF8"/>
                </a:solidFill>
                <a:latin typeface="Arial"/>
              </a:defRPr>
            </a:pPr>
            <a:r>
              <a:t>AI-Driven Human Heat Risk &amp; Biometeorological Early Warning System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From Weather Forecasts → Human Physiological Thermal Stress → Localized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PROBLEM STATEMENT SPECIFICATION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Problem Statement ID: SIH26083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Problem Title: Extreme Heatwave Early Warning &amp; Human Thermal Stress Index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Ministry / Org: Ministry of Earth Sciences (MoES)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Department: National Centre for Medium Range Weather Forecasting (NCMRWF)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Category &amp; Theme: Software  |  Disaster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3840480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3977639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PARTICIPATION &amp; TEAM DETAILS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Team Name: [YOUR REGISTERED TEAM NAME]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Team ID: [YOUR REGISTERED TEAM ID]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Core Mandate: Predict 'What weather will do to humans' vs merely 'What temperature will be'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Key Methodology: Universal Thermal Climate Index (UTCI) + ISO 7243 WBGT + Census HVI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Target Users: MoES/NCMRWF, NDMA, Municipal Corps, Health Depts, Gig &amp; Labor Workers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SMART INDIA HACKATHON 2026  |  SLIDE 2 — IDEA &amp; INNOVATION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  <a:latin typeface="Arial"/>
              </a:defRPr>
            </a:pPr>
            <a:r>
              <a:t>ThermoShield: Operational Human Heat-Risk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CORE CONCEPTUAL PIPELINE</a:t>
            </a:r>
          </a:p>
          <a:p>
            <a:pPr>
              <a:spcBef>
                <a:spcPts val="600"/>
              </a:spcBef>
              <a:defRPr sz="1100" b="1">
                <a:solidFill>
                  <a:srgbClr val="F97316"/>
                </a:solidFill>
              </a:defRPr>
            </a:pPr>
            <a:r>
              <a:t>▼ 1. Multi-Variable Ingestion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NWP 5-day forecast + 30-yr MERRA-2 baseline (Temp, RH, Wind, Solar Rad)</a:t>
            </a:r>
          </a:p>
          <a:p>
            <a:pPr>
              <a:spcBef>
                <a:spcPts val="600"/>
              </a:spcBef>
              <a:defRPr sz="1100" b="1">
                <a:solidFill>
                  <a:srgbClr val="F97316"/>
                </a:solidFill>
              </a:defRPr>
            </a:pPr>
            <a:r>
              <a:t>▼ 2. Human Thermal Stress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UTCI (Fiala 187-node multi-node model) + ISO 7243 WBGT + Heat Index</a:t>
            </a:r>
          </a:p>
          <a:p>
            <a:pPr>
              <a:spcBef>
                <a:spcPts val="600"/>
              </a:spcBef>
              <a:defRPr sz="1100" b="1">
                <a:solidFill>
                  <a:srgbClr val="F97316"/>
                </a:solidFill>
              </a:defRPr>
            </a:pPr>
            <a:r>
              <a:t>▼ 3. Demographic Vulnerability (HVI)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Census 2011 PCA spatial overlay (Elderly ≥60, Outdoor Labor, Slum Density, Green Deficit)</a:t>
            </a:r>
          </a:p>
          <a:p>
            <a:pPr>
              <a:spcBef>
                <a:spcPts val="600"/>
              </a:spcBef>
              <a:defRPr sz="1100" b="1">
                <a:solidFill>
                  <a:srgbClr val="F97316"/>
                </a:solidFill>
              </a:defRPr>
            </a:pPr>
            <a:r>
              <a:t>▼ 4. Predictive Health-Risk Model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Relative heat-health strain score (0–100) with multi-day accumulation penalty</a:t>
            </a:r>
          </a:p>
          <a:p>
            <a:pPr>
              <a:spcBef>
                <a:spcPts val="600"/>
              </a:spcBef>
              <a:defRPr sz="1100" b="1">
                <a:solidFill>
                  <a:srgbClr val="F97316"/>
                </a:solidFill>
              </a:defRPr>
            </a:pPr>
            <a:r>
              <a:t>▼ 5. Automated Action Dispatcher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Bilingual (EN/HI) NDMA playbooks, hospital surge triggers, NIOSH work-rest cycles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65215" y="1371600"/>
            <a:ext cx="5394960" cy="10241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444752"/>
            <a:ext cx="5084064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1. Multidimensional Thermal Stress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Does not rely on dry-bulb temperature alone. Accurately computes sweat evaporation limits (UTCI/WBGT) where high humidity turns 40°C lethal.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65215" y="2523744"/>
            <a:ext cx="5394960" cy="10241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96896"/>
            <a:ext cx="5084064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2. Human-Centric Risk vs Weather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Translates meteorological data into actionable physiological strain and population vulnerability rather than raw atmospheric parameters.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5215" y="3675888"/>
            <a:ext cx="5394960" cy="10241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749040"/>
            <a:ext cx="5084064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3. Hyper-Local Ward Prioritization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Differentiates affluent shaded residential sectors from densely packed informal settlements with tin roofs and high elderly/worker shares.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5215" y="4828032"/>
            <a:ext cx="5394960" cy="10241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901184"/>
            <a:ext cx="5084064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4. Automated Action &amp; Advisory Trigger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Converts risk directly into sector-specific advisories: gig worker hydration quotas, construction halts (11 AM–4 PM), and hospital surge beds.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05332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KEY USP: Not another heat map — an automated, end-to-end impact-to-action intelligence layer for heatwaves.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SMART INDIA HACKATHON 2026  |  SLIDE 3 — TECHNICAL APPROACH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  <a:latin typeface="Arial"/>
              </a:defRPr>
            </a:pPr>
            <a:r>
              <a:t>5-Layer Production Architecture &amp;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28655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0744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LAYER 1: DATA INGESTION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Open-Meteo 5-Day NWP Hourly Forecast (0.1° Grid) + NASA POWER MERRA-2 30-Yr Climatological Baseline + Census 2011 PCA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75688"/>
            <a:ext cx="10728655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30552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LAYER 2: HARMONIZATION &amp; PREPROCESSING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Coordinate Spatial Alignment + Vapor Pressure (Buck 1981) + Wind Profile Downscaling (10m → 1.2m human center-of-mass)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25496"/>
            <a:ext cx="10728655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LAYER 3: THERMAL STRESS ENGINE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Universal Thermal Climate Index (6th-order UTCI polynomial) + ISO 7243 Outdoor WBGT (Stull Tw + Liljegren Tg) + NOAA Heat Index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75304"/>
            <a:ext cx="10728655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30168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LAYER 4: AI &amp; VULNERABILITY SYNTHESIS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Demographic HVI Weighting (Elderly 25%, Labor 25%, Slum 20%, Child 15%, Canopy Deficit 15%) + Multi-Day Persistence Penalty (Dmult)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25112"/>
            <a:ext cx="10728655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9976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LAYER 5: DECISION &amp; ACTION DELIVERY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Interactive Leaflet GIS Choropleth + Chart.js Multi-Day Curves + Bilingual NDMA Playbooks + Telegram Broadcaster + 25 REST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52120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COMPACT &amp; REPRODUCIBLE TECH STACK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Backend &amp; API: Python 3.11, FastAPI, Pydantic v2, Uvicorn (25 REST routes)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Scientific &amp; GIS: NumPy, Pandas, GeoPandas, Shapely (Polynomial &amp; Psychrometrics)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Frontend &amp; Viz: Leaflet.js (Choropleth GIS), Chart.js (5-day curves), Vanilla HTML5/CSS3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Deployment: Docker, Docker Compose, Linux VPS (OCI Oracle 6.17), GitHub 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5166360"/>
            <a:ext cx="52120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525780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STANDARDS &amp; SCIENTIFIC CITATIONS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UTCI Consortium: Fiala 187-node human thermoregulation polynomial (WMO standard)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ISO 7243:2017 &amp; NIOSH: Occupational heat-stress criteria and work-rest ratios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NDMA 2024 &amp; NCDC NPCCHH: National Action Plan for Heat-Related Illnesses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Epidemiological Proof: Azhar et al. (2014) PLoS ONE &amp; Mazdiyasni et al. (2017) PNAS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SMART INDIA HACKATHON 2026  |  SLIDE 4 — FEASIBILITY &amp; VIABILITY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  <a:latin typeface="Arial"/>
              </a:defRPr>
            </a:pPr>
            <a:r>
              <a:t>Technical Risk Mitigation &amp; 4-Phase Deployment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429000" cy="3063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31546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CHALLENGE &amp; RISK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Data Heterogeneity: Varying spatial resolutions between NWP grids (0.1°) and municipal ward polygons.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Health Data Inaccessibility: Hospital admission records and clinical mortality data are confidential/restricted.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Model Over-Fitting / Hallucination: Predicting absolute death counts without clinical validation invites severe error.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False Alarm Fatigue: Single temperature spikes triggering premature citywide lockdowns.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325880"/>
            <a:ext cx="3429000" cy="3063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17136" y="1417320"/>
            <a:ext cx="31546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OUR ENGINEERING MITIGATION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Spatial Harmonization: Dynamic geometric attribution over Census ward boundaries with population weighting.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Public Baseline Adaptation: Grounded in peer-reviewed epidemiological benchmarks (Azhar 2014, Mazdiyasni 2017).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Relative Risk Indexing: Bounded 0–100 human heat-health risk score with NDMA-aligned action bands.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Multi-Day Persistence Penalty: Compound duration formula requiring sustained physiological strain to escalate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325880"/>
            <a:ext cx="3429000" cy="3063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5592" y="1417320"/>
            <a:ext cx="31546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WHY IT IS HIGHLY FEASIBLE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Operational Data Ecosystem: Open-Meteo &amp; NASA POWER provide open, keyless, reliable programmatic feeds today.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Tier-1 Prototype Ready: 100% functional without government clearance, human approvals, or private API keys.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Validated Monotonicity: Exhaustive tests (38 test suites passing) ensure robust physical calculations.</a:t>
            </a:r>
          </a:p>
          <a:p>
            <a:pPr>
              <a:spcBef>
                <a:spcPts val="300"/>
              </a:spcBef>
              <a:defRPr sz="900">
                <a:solidFill>
                  <a:srgbClr val="F8FAFC"/>
                </a:solidFill>
              </a:defRPr>
            </a:pPr>
            <a:r>
              <a:t>• Zero Infrastructure Cost: Lightweight, containerized architecture deployable on commodity VPS or 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2542032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617720"/>
            <a:ext cx="23225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PHASE 1 (COMPLETED)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Tier-1 Autonomous Prototype</a:t>
            </a:r>
            <a:br/>
            <a:r>
              <a:t>• Full UTCI / WBGT engines</a:t>
            </a:r>
            <a:br/>
            <a:r>
              <a:t>• Delhi NCR baseline</a:t>
            </a:r>
            <a:br/>
            <a:r>
              <a:t>• Keyless NWP &amp; NASA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4526280"/>
            <a:ext cx="2542032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617720"/>
            <a:ext cx="23225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PHASE 2 (COMPLETED)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Multi-City Ward Expansion</a:t>
            </a:r>
            <a:br/>
            <a:r>
              <a:t>• 5 Metros (DL, AH, ST, BB, MU)</a:t>
            </a:r>
            <a:br/>
            <a:r>
              <a:t>• Census 2011 PCA HVI overlay</a:t>
            </a:r>
            <a:br/>
            <a:r>
              <a:t>• Bilingual NDMA playbooks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526280"/>
            <a:ext cx="2542032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4617720"/>
            <a:ext cx="23225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PHASE 3 (NEXT 3 MONTHS)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NCMRWF Ensemble Integration</a:t>
            </a:r>
            <a:br/>
            <a:r>
              <a:t>• Direct MoES GRIB2 streams</a:t>
            </a:r>
            <a:br/>
            <a:r>
              <a:t>• MOSDAC INSAT LST integration</a:t>
            </a:r>
            <a:br/>
            <a:r>
              <a:t>• Automated WhatsApp dispatch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4526280"/>
            <a:ext cx="2542032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5984" y="4617720"/>
            <a:ext cx="23225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PHASE 4 (SCALE / PRODUCTION)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National Health Surveillance</a:t>
            </a:r>
            <a:br/>
            <a:r>
              <a:t>• Integration with IDSP / NHRIDS</a:t>
            </a:r>
            <a:br/>
            <a:r>
              <a:t>• Machine learning calibration</a:t>
            </a:r>
            <a:br/>
            <a:r>
              <a:t>• Nationwide municipal rollout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SMART INDIA HACKATHON 2026  |  SLIDE 5 — IMPACT &amp; BENEFITS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  <a:latin typeface="Arial"/>
              </a:defRPr>
            </a:pPr>
            <a:r>
              <a:t>Target Stakeholders &amp; 72h–120h Early Action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28655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PROVEN 72h–120h (3–5 DAY) PRE-EMPTIVE ACTION TIMELINE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D-5 (120h Lead): NWP forecast detects moisture surge &amp; high radiation. UTCI indicates 'Very Strong Stress' (42°C). Early municipal advisory issued.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D-3 (72h Lead): Cumulative heat persistence detected. High-vulnerability wards (slums, labor hubs) flagged for targeted water tanker routing &amp; cooling centers.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D-2 (48h Lead): Automated bilingual bulletins sent to DISCOMs for grid load preparation and Health Departments for ORS/cooling ward staging.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D-1 (24h Lead): Mandatory NIOSH work-rest schedules published for gig platforms (Zomato/Swiggy) and construction sites (labor halt 11 AM–4 PM).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• D-Day (Peak): Extreme heatwave peaks. Because interventions were pre-positioned 72h–120h prior, mass-casualty surge is successfully averted.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029968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8470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Municipal Corporations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Ward-level prioritization for water tankers, cool roofs, and emergency misting centers.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3474720"/>
            <a:ext cx="2029968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0088" y="3566160"/>
            <a:ext cx="18470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Health Departments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Hospital surge bed activation, emergency IV fluid prepositioning, and heatstroke triage.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3474720"/>
            <a:ext cx="2029968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7216" y="3566160"/>
            <a:ext cx="18470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Disaster Management (NDMA)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Automated activation of city Heat Action Plans (HAP) based on physiological triggers.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2904" y="3474720"/>
            <a:ext cx="2029968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3566160"/>
            <a:ext cx="18470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Outdoor &amp; Gig Workers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Enforceable NIOSH work-rest cycles and hydration quotas for delivery, construction, and police.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0032" y="3474720"/>
            <a:ext cx="2029968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1472" y="3566160"/>
            <a:ext cx="18470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</a:defRPr>
            </a:pPr>
            <a:r>
              <a:t>Citizen Public Alerts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Bilingual localized WhatsApp/Telegram warnings enabling vulnerable families to stay safe.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SMART INDIA HACKATHON 2026  |  SLIDE 6 — RESEARCH &amp; REFERENCES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  <a:latin typeface="Arial"/>
              </a:defRPr>
            </a:pPr>
            <a:r>
              <a:t>Authoritative Scientific Grounding &amp; Literature Baseline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97316"/>
                </a:solidFill>
              </a:defRPr>
            </a:pPr>
            <a:r>
              <a:t>1. GOVERNMENT &amp; METEOROLOGICAL STANDARDS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IMD Heatwave Guidance: Official definitions, districtwise alerts &amp; experimental heat index guidance.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NCMRWF NWP System: Target operational modeling framework and global ensemble forecast stream.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NDMA &amp; NCDC Guidelines: National Action Plan for Heat-Related Illnesses (NPCCHH, 2024).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32588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5255" y="141732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2. THERMAL STRESS &amp; PHYSIOLOGICAL SCIENCE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UTCI Consortium (WMO): Fiala multi-node thermophysiological polynomial (Bröde et al. / Jäger 2012).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ISO 7243:2017 / NIOSH: Occupational exposure criteria for hot environments (CDC/NIOSH Pub 2016-106).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Psychrometric Formulations: Stull (2011) natural wet bulb and Liljegren (2008) outdoor globe radiation.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C55E"/>
                </a:solidFill>
              </a:defRPr>
            </a:pPr>
            <a:r>
              <a:t>3. EPIDEMIOLOGICAL BENCHMARKS &amp; VALIDATION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Azhar et al. (2014) PLoS ONE: Documented 1,344 excess deaths (43.1% surge) during Ahmedabad 2010 heatwave.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Mazdiyasni et al. (2017) PNAS: 50-year Indian analysis proving +0.5°C rise leads to 146% surge in mass mortality events.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WHO Heat &amp; Health Evidence: Established empirical links between sustained thermal stress and cardiovascular collapse.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361188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370332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AB308"/>
                </a:solidFill>
              </a:defRPr>
            </a:pPr>
            <a:r>
              <a:t>4. OPEN TIER-1 DATA SOURCES &amp; BENCHMARKS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NASA POWER (LaRC MERRA-2): 40-year hourly/daily climatological normals for robust baseline departure analysis.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Open-Meteo NWP Forecast: 5-day hourly high-resolution weather variables without proprietary credentials.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Census India 2011 PCA: Authoritative open demographic baseline for ward-level vulnerability mapping.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6188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</a:defRPr>
            </a:pPr>
            <a:r>
              <a:t>RESEARCH GAP SOLVED: Existing systems provide either macro-weather forecasts OR static vulnerability maps. ThermoShield operationalizes the complete unified pipeline: Forecast → Physiological Thermal Stress → Demographic Vulnerability → Ward Risk → Automated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