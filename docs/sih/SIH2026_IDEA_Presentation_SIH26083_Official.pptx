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D4E89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1920240" cy="7223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pic>
        <p:nvPicPr>
          <p:cNvPr id="5" name="Picture 4" descr="sih_hex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54480"/>
            <a:ext cx="4480560" cy="4910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62179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0000"/>
                </a:solidFill>
                <a:latin typeface="Arial"/>
              </a:defRPr>
            </a:pPr>
            <a:r>
              <a:t>• Problem Statement ID – </a:t>
            </a:r>
            <a:r>
              <a:rPr b="0">
                <a:solidFill>
                  <a:srgbClr val="1D4E89"/>
                </a:solidFill>
              </a:rPr>
              <a:t>SIH26083</a:t>
            </a:r>
          </a:p>
          <a:p>
            <a:pPr>
              <a:spcBef>
                <a:spcPts val="700"/>
              </a:spcBef>
              <a:defRPr sz="1150" b="1">
                <a:solidFill>
                  <a:srgbClr val="000000"/>
                </a:solidFill>
                <a:latin typeface="Arial"/>
              </a:defRPr>
            </a:pPr>
            <a:r>
              <a:t>• Problem Statement Title- </a:t>
            </a:r>
            <a:r>
              <a:rPr b="0">
                <a:solidFill>
                  <a:srgbClr val="000000"/>
                </a:solidFill>
              </a:rPr>
              <a:t>Extreme Heatwave Early Warning and Human Thermal Stress Index</a:t>
            </a:r>
          </a:p>
          <a:p>
            <a:pPr>
              <a:spcBef>
                <a:spcPts val="700"/>
              </a:spcBef>
              <a:defRPr sz="1150" b="1">
                <a:solidFill>
                  <a:srgbClr val="000000"/>
                </a:solidFill>
                <a:latin typeface="Arial"/>
              </a:defRPr>
            </a:pPr>
            <a:r>
              <a:t>• Theme- </a:t>
            </a:r>
            <a:r>
              <a:rPr b="0">
                <a:solidFill>
                  <a:srgbClr val="000000"/>
                </a:solidFill>
              </a:rPr>
              <a:t>Disaster Management</a:t>
            </a:r>
          </a:p>
          <a:p>
            <a:pPr>
              <a:spcBef>
                <a:spcPts val="700"/>
              </a:spcBef>
              <a:defRPr sz="1150" b="1">
                <a:solidFill>
                  <a:srgbClr val="000000"/>
                </a:solidFill>
                <a:latin typeface="Arial"/>
              </a:defRPr>
            </a:pPr>
            <a:r>
              <a:t>• PS Category- </a:t>
            </a:r>
            <a:r>
              <a:rPr b="0">
                <a:solidFill>
                  <a:srgbClr val="000000"/>
                </a:solidFill>
              </a:rPr>
              <a:t>Software</a:t>
            </a:r>
          </a:p>
          <a:p>
            <a:pPr>
              <a:spcBef>
                <a:spcPts val="700"/>
              </a:spcBef>
              <a:defRPr sz="1150" b="1">
                <a:solidFill>
                  <a:srgbClr val="000000"/>
                </a:solidFill>
                <a:latin typeface="Arial"/>
              </a:defRPr>
            </a:pPr>
            <a:r>
              <a:t>• Organization- </a:t>
            </a:r>
            <a:r>
              <a:rPr b="0">
                <a:solidFill>
                  <a:srgbClr val="000000"/>
                </a:solidFill>
              </a:rPr>
              <a:t>Ministry of Earth Sciences (MoES) / NCMRWF</a:t>
            </a:r>
          </a:p>
          <a:p>
            <a:pPr>
              <a:spcBef>
                <a:spcPts val="700"/>
              </a:spcBef>
              <a:defRPr sz="1150" b="1">
                <a:solidFill>
                  <a:srgbClr val="000000"/>
                </a:solidFill>
                <a:latin typeface="Arial"/>
              </a:defRPr>
            </a:pPr>
            <a:r>
              <a:t>• Team ID- </a:t>
            </a:r>
            <a:r>
              <a:rPr b="0">
                <a:solidFill>
                  <a:srgbClr val="1D4E89"/>
                </a:solidFill>
              </a:rPr>
              <a:t>[YOUR REGISTERED TEAM ID]</a:t>
            </a:r>
          </a:p>
          <a:p>
            <a:pPr>
              <a:spcBef>
                <a:spcPts val="700"/>
              </a:spcBef>
              <a:defRPr sz="1150" b="1">
                <a:solidFill>
                  <a:srgbClr val="000000"/>
                </a:solidFill>
                <a:latin typeface="Arial"/>
              </a:defRPr>
            </a:pPr>
            <a:r>
              <a:t>• Team Name (Registered on portal)- </a:t>
            </a:r>
            <a:r>
              <a:rPr b="0">
                <a:solidFill>
                  <a:srgbClr val="1D4E89"/>
                </a:solidFill>
              </a:rPr>
              <a:t>ThermoShield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66360"/>
            <a:ext cx="6035040" cy="1188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D4E89"/>
                </a:solidFill>
              </a:defRPr>
            </a:pPr>
            <a:r>
              <a:t>PROPOSED SYSTEM: ThermoShield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AI-Driven Human Heat Risk &amp; Biometeorological Early Warning OS</a:t>
            </a:r>
            <a:br/>
            <a:r>
              <a:t>From Weather Forecasts → Physiological Thermal Stress → Hyper-Local Ward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64592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Thermo-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82880"/>
            <a:ext cx="7589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IDEA TITLE: THERMOSHIELD — AI-DRIVEN HUMAN HEAT RISK OS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920240" cy="722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601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 u="sng">
                <a:solidFill>
                  <a:srgbClr val="1D4E89"/>
                </a:solidFill>
                <a:latin typeface="Arial"/>
              </a:defRPr>
            </a:pPr>
            <a:r>
              <a:t>❖  Proposed Solution (Describe your Idea/Solution/Prototype)</a:t>
            </a:r>
          </a:p>
        </p:txBody>
      </p:sp>
      <p:pic>
        <p:nvPicPr>
          <p:cNvPr id="6" name="Picture 5" descr="slide2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98448"/>
            <a:ext cx="10728655" cy="1691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63240"/>
            <a:ext cx="342900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3127248"/>
            <a:ext cx="3319272" cy="3200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89"/>
                </a:solidFill>
              </a:defRPr>
            </a:pPr>
            <a:r>
              <a:t>• Detailed Explanation of 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20440"/>
            <a:ext cx="320954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D4E89"/>
                </a:solidFill>
              </a:defRPr>
            </a:pPr>
            <a:r>
              <a:t>❖  Dual-Branch Ingestion: </a:t>
            </a:r>
            <a:r>
              <a:rPr b="0">
                <a:solidFill>
                  <a:srgbClr val="1E293B"/>
                </a:solidFill>
              </a:rPr>
              <a:t>Fuses 5-Day hourly NWP forecasts (T, RH, Wind, Rad) with Census 2011 PCA demographics.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❖  UTCI Physiological Engine: </a:t>
            </a:r>
            <a:r>
              <a:rPr b="0">
                <a:solidFill>
                  <a:srgbClr val="1E293B"/>
                </a:solidFill>
              </a:rPr>
              <a:t>Universal Thermal Climate Index (6th-order polynomial based on Fiala 187-node model).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❖  ISO 7243 WBGT: </a:t>
            </a:r>
            <a:r>
              <a:rPr b="0">
                <a:solidFill>
                  <a:srgbClr val="1E293B"/>
                </a:solidFill>
              </a:rPr>
              <a:t>Natural wet bulb (Stull) and globe temp (Liljegren) for occupational and outdoor labor stress.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❖  Multi-Day Persistence: </a:t>
            </a:r>
            <a:r>
              <a:rPr b="0">
                <a:solidFill>
                  <a:srgbClr val="1E293B"/>
                </a:solidFill>
              </a:rPr>
              <a:t>Exponential duration multiplier (Dmult) and uncooled night penalty (Tmin &gt; 28°C).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063240"/>
            <a:ext cx="342900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3127248"/>
            <a:ext cx="3319272" cy="320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89"/>
                </a:solidFill>
              </a:defRPr>
            </a:pPr>
            <a:r>
              <a:t>• How It Addresses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3520440"/>
            <a:ext cx="320954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D4E89"/>
                </a:solidFill>
              </a:defRPr>
            </a:pPr>
            <a:r>
              <a:t>❖  Human Impact vs Weather: </a:t>
            </a:r>
            <a:r>
              <a:rPr b="0">
                <a:solidFill>
                  <a:srgbClr val="1E293B"/>
                </a:solidFill>
              </a:rPr>
              <a:t>Overcomes dry-bulb limitations where 40°C with high humidity breaks thermoregulation.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❖  Hyper-Local Ward Granularity: </a:t>
            </a:r>
            <a:r>
              <a:rPr b="0">
                <a:solidFill>
                  <a:srgbClr val="1E293B"/>
                </a:solidFill>
              </a:rPr>
              <a:t>Differentiates shaded affluent zones from informal settlements with tin roofs.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❖  Epidemiological Grounding: </a:t>
            </a:r>
            <a:r>
              <a:rPr b="0">
                <a:solidFill>
                  <a:srgbClr val="1E293B"/>
                </a:solidFill>
              </a:rPr>
              <a:t>Calibrated against Indian empirical studies (Azhar 2014 &amp; Mazdiyasni 2017).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❖  Relative Risk Indexing: </a:t>
            </a:r>
            <a:r>
              <a:rPr b="0">
                <a:solidFill>
                  <a:srgbClr val="1E293B"/>
                </a:solidFill>
              </a:rPr>
              <a:t>Bounded 0–100 Human Heat-Health Risk Score replacing uncalibrated death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3063240"/>
            <a:ext cx="342900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83296" y="3127248"/>
            <a:ext cx="3319272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89"/>
                </a:solidFill>
              </a:defRPr>
            </a:pPr>
            <a:r>
              <a:t>• Innovation and Uniqueness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520440"/>
            <a:ext cx="320954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D4E89"/>
                </a:solidFill>
              </a:defRPr>
            </a:pPr>
            <a:r>
              <a:t>❖  72h–120h Pre-Emptive Window: </a:t>
            </a:r>
            <a:r>
              <a:rPr b="0">
                <a:solidFill>
                  <a:srgbClr val="1E293B"/>
                </a:solidFill>
              </a:rPr>
              <a:t>3–5 day anticipation enabling municipal water tankers and cooling shelters to be staged.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❖  Automated Multi-Sector Triggers: </a:t>
            </a:r>
            <a:r>
              <a:rPr b="0">
                <a:solidFill>
                  <a:srgbClr val="1E293B"/>
                </a:solidFill>
              </a:rPr>
              <a:t>Converts risk into hospital surge beds, DISCOM load warnings, and NIOSH labor halts.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❖  Bilingual Public Advisories: </a:t>
            </a:r>
            <a:r>
              <a:rPr b="0">
                <a:solidFill>
                  <a:srgbClr val="1E293B"/>
                </a:solidFill>
              </a:rPr>
              <a:t>Plain-language vernacular WhatsApp/Telegram warnings in Hindi and English.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❖  Production Open Stack: </a:t>
            </a:r>
            <a:r>
              <a:rPr b="0">
                <a:solidFill>
                  <a:srgbClr val="1E293B"/>
                </a:solidFill>
              </a:rPr>
              <a:t>25 REST APIs with sub-second latency and zero proprietary software licensing.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64592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Thermo-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82880"/>
            <a:ext cx="7589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920240" cy="722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1D4E89"/>
                </a:solidFill>
                <a:latin typeface="Arial"/>
              </a:defRPr>
            </a:pPr>
            <a:r>
              <a:t>• Methodology &amp; Implementation Process (Working Prototype Architecture &amp; Live GIS Output)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1D4E89"/>
                </a:solidFill>
              </a:defRPr>
            </a:pPr>
            <a:r>
              <a:t>4-STAGE COMPUTATIONAL PIPELINE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• 1. Ingestion: </a:t>
            </a:r>
            <a:r>
              <a:rPr b="0">
                <a:solidFill>
                  <a:srgbClr val="1E293B"/>
                </a:solidFill>
              </a:rPr>
              <a:t>Open-Meteo 0.1° NWP 5-day hourly weather + NASA POWER 40-yr baseline + Census 2011 PCA demographics.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• 2. Thermal Engine: </a:t>
            </a:r>
            <a:r>
              <a:rPr b="0">
                <a:solidFill>
                  <a:srgbClr val="1E293B"/>
                </a:solidFill>
              </a:rPr>
              <a:t>UTCI 6th-order polynomial (Fiala) + ISO 7243 WBGT psychrometrics + Multi-day persistence penalty (Dmult).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• 3. AI &amp; HVI Synthesis: </a:t>
            </a:r>
            <a:r>
              <a:rPr b="0">
                <a:solidFill>
                  <a:srgbClr val="1E293B"/>
                </a:solidFill>
              </a:rPr>
              <a:t>PCA Demographic Vulnerability Index (slums, elderly, gig labor, canopy deficit) → 0–100 Heat-Health Score.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• 4. God's Eye C2 &amp; Action: </a:t>
            </a:r>
            <a:r>
              <a:rPr b="0">
                <a:solidFill>
                  <a:srgbClr val="1E293B"/>
                </a:solidFill>
              </a:rPr>
              <a:t>Tactical 3D Command View (MapLibre), 25 REST APIs, NDMA playbooks, hospital cooling beds, NIOSH labor halts.</a:t>
            </a:r>
          </a:p>
        </p:txBody>
      </p:sp>
      <p:pic>
        <p:nvPicPr>
          <p:cNvPr id="7" name="Picture 6" descr="gods-eye-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5425135" cy="3200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617720"/>
            <a:ext cx="10728655" cy="1691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D4E89"/>
                </a:solidFill>
              </a:defRPr>
            </a:pPr>
            <a:r>
              <a:t>• Technologies to be used (Programming Languages, Frameworks, GIS &amp; Deployment):</a:t>
            </a:r>
          </a:p>
          <a:p>
            <a:pPr>
              <a:spcBef>
                <a:spcPts val="200"/>
              </a:spcBef>
              <a:defRPr sz="900" b="1">
                <a:solidFill>
                  <a:srgbClr val="1D4E89"/>
                </a:solidFill>
              </a:defRPr>
            </a:pPr>
            <a:r>
              <a:t>❖  Backend &amp; REST APIs: </a:t>
            </a:r>
            <a:r>
              <a:rPr b="0">
                <a:solidFill>
                  <a:srgbClr val="1E293B"/>
                </a:solidFill>
              </a:rPr>
              <a:t>Python 3.11, FastAPI, Pydantic v2, Uvicorn, AsyncIO (25 REST production endpoints)</a:t>
            </a:r>
          </a:p>
          <a:p>
            <a:pPr>
              <a:spcBef>
                <a:spcPts val="200"/>
              </a:spcBef>
              <a:defRPr sz="900" b="1">
                <a:solidFill>
                  <a:srgbClr val="1D4E89"/>
                </a:solidFill>
              </a:defRPr>
            </a:pPr>
            <a:r>
              <a:t>❖  Biometeorology &amp; GIS Engine: </a:t>
            </a:r>
            <a:r>
              <a:rPr b="0">
                <a:solidFill>
                  <a:srgbClr val="1E293B"/>
                </a:solidFill>
              </a:rPr>
              <a:t>NumPy, Pandas, GeoPandas, Shapely, Scipy (UTCI 6th-order polynomial &amp; ISO 7243 psychrometrics)</a:t>
            </a:r>
          </a:p>
          <a:p>
            <a:pPr>
              <a:spcBef>
                <a:spcPts val="200"/>
              </a:spcBef>
              <a:defRPr sz="900" b="1">
                <a:solidFill>
                  <a:srgbClr val="1D4E89"/>
                </a:solidFill>
              </a:defRPr>
            </a:pPr>
            <a:r>
              <a:t>❖  Web GIS &amp; Tactical 3D C2: </a:t>
            </a:r>
            <a:r>
              <a:rPr b="0">
                <a:solidFill>
                  <a:srgbClr val="1E293B"/>
                </a:solidFill>
              </a:rPr>
              <a:t>MapLibre GL JS (God's Eye 3D C2 War Room), Leaflet.js (2D Choropleth), Chart.js (5-Day Trend Curves)</a:t>
            </a:r>
          </a:p>
          <a:p>
            <a:pPr>
              <a:spcBef>
                <a:spcPts val="200"/>
              </a:spcBef>
              <a:defRPr sz="900" b="1">
                <a:solidFill>
                  <a:srgbClr val="1D4E89"/>
                </a:solidFill>
              </a:defRPr>
            </a:pPr>
            <a:r>
              <a:t>❖  Data Ingestion &amp; Deployment: </a:t>
            </a:r>
            <a:r>
              <a:rPr b="0">
                <a:solidFill>
                  <a:srgbClr val="1E293B"/>
                </a:solidFill>
              </a:rPr>
              <a:t>Open-Meteo NWP, NASA POWER MERRA-2, Census India PCA, Docker, Linux VPS (Oracle Linux)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64592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Thermo-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82880"/>
            <a:ext cx="7589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920240" cy="722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60120"/>
            <a:ext cx="1072865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89"/>
                </a:solidFill>
              </a:defRPr>
            </a:pPr>
            <a:r>
              <a:t>• Analysis of the Feasibility of the Idea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The ThermoShield platform is highly feasible due to open, keyless Tier-1 atmospheric data pipelines (Open-Meteo 0.1° NWP hourly forecasts and NASA POWER MERRA-2 40-year climatological normals) and validated biometeorological formulations (WMO UTCI polynomial &amp; ISO 7243 WBGT). Integrating Census 2011 PCA demographics enables hyper-local ward-level vulnerability mapping without waiting for restricted government permissions.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6858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C2626"/>
                </a:solidFill>
              </a:defRPr>
            </a:pPr>
            <a:r>
              <a:t>• Potential Challenges &amp; Risks                     • Strategies for Overcoming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6492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• Data Heterogeneity (0.1° Grid vs Wards)
</a:t>
            </a:r>
            <a:r>
              <a:rPr sz="900" b="1">
                <a:solidFill>
                  <a:srgbClr val="16A34A"/>
                </a:solidFill>
              </a:rPr>
              <a:t>   ➔  Spatial Harmonization &amp; Polygon Attribution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6492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• Confidential Hospital Mortality Records
</a:t>
            </a:r>
            <a:r>
              <a:rPr sz="900" b="1">
                <a:solidFill>
                  <a:srgbClr val="16A34A"/>
                </a:solidFill>
              </a:rPr>
              <a:t>   ➔  Epidemiological Calibration (Azhar 2014 &amp; Mazdiyasni 2017)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6492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• Model Overfitting / False Death Claims
</a:t>
            </a:r>
            <a:r>
              <a:rPr sz="900" b="1">
                <a:solidFill>
                  <a:srgbClr val="16A34A"/>
                </a:solidFill>
              </a:rPr>
              <a:t>   ➔  Bounded 0–100 Human Heat-Health Risk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82896"/>
            <a:ext cx="6492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• False Alarm Fatigue (Single Spikes)
</a:t>
            </a:r>
            <a:r>
              <a:rPr sz="900" b="1">
                <a:solidFill>
                  <a:srgbClr val="16A34A"/>
                </a:solidFill>
              </a:rPr>
              <a:t>   ➔  Compound Multi-Day Persistence Multiplier (Dmult)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41264"/>
            <a:ext cx="64922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DC2626"/>
                </a:solidFill>
              </a:rPr>
              <a:t>• Uncooled Nighttime Strain (Tmin &gt; 28°C)
</a:t>
            </a:r>
            <a:r>
              <a:rPr sz="900" b="1">
                <a:solidFill>
                  <a:srgbClr val="16A34A"/>
                </a:solidFill>
              </a:rPr>
              <a:t>   ➔  Explicit Nocturnal Recovery Penalty Algorithm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423160"/>
            <a:ext cx="368777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89"/>
                </a:solidFill>
              </a:defRPr>
            </a:pPr>
            <a:r>
              <a:t>• Target Users &amp; Viability:</a:t>
            </a:r>
          </a:p>
          <a:p>
            <a:pPr>
              <a:spcBef>
                <a:spcPts val="500"/>
              </a:spcBef>
              <a:defRPr sz="900" b="1">
                <a:solidFill>
                  <a:srgbClr val="1D4E89"/>
                </a:solidFill>
              </a:defRPr>
            </a:pPr>
            <a:r>
              <a:t>➢  Municipal Corporations &amp; Smart Cities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  For ward-level water tankers, cool roofs &amp; cooling centers.</a:t>
            </a:r>
          </a:p>
          <a:p>
            <a:pPr>
              <a:spcBef>
                <a:spcPts val="500"/>
              </a:spcBef>
              <a:defRPr sz="900" b="1">
                <a:solidFill>
                  <a:srgbClr val="1D4E89"/>
                </a:solidFill>
              </a:defRPr>
            </a:pPr>
            <a:r>
              <a:t>➢  Health Departments &amp; Hospitals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  For heatstroke emergency ward &amp; IV fluid prepositioning.</a:t>
            </a:r>
          </a:p>
          <a:p>
            <a:pPr>
              <a:spcBef>
                <a:spcPts val="500"/>
              </a:spcBef>
              <a:defRPr sz="900" b="1">
                <a:solidFill>
                  <a:srgbClr val="1D4E89"/>
                </a:solidFill>
              </a:defRPr>
            </a:pPr>
            <a:r>
              <a:t>➢  State Disaster Management (SDMA / NDMA)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  For automated Heat Action Plan (HAP) trigger activation.</a:t>
            </a:r>
          </a:p>
          <a:p>
            <a:pPr>
              <a:spcBef>
                <a:spcPts val="500"/>
              </a:spcBef>
              <a:defRPr sz="900" b="1">
                <a:solidFill>
                  <a:srgbClr val="1D4E89"/>
                </a:solidFill>
              </a:defRPr>
            </a:pPr>
            <a:r>
              <a:t>➢  Gig Platforms &amp; Construction Sector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  For mandatory NIOSH labor halt (11 AM–4 PM) compliance.</a:t>
            </a:r>
          </a:p>
          <a:p>
            <a:pPr>
              <a:spcBef>
                <a:spcPts val="500"/>
              </a:spcBef>
              <a:defRPr sz="900" b="1">
                <a:solidFill>
                  <a:srgbClr val="1D4E89"/>
                </a:solidFill>
              </a:defRPr>
            </a:pPr>
            <a:r>
              <a:t>➢  DISCOMs &amp; Power Utilities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    For predictive grid load planning during peak cooling demand.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64592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Thermo-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82880"/>
            <a:ext cx="7589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920240" cy="722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601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D4E89"/>
                </a:solidFill>
              </a:defRPr>
            </a:pPr>
            <a:r>
              <a:t>• Potential Impact on the Target Audience (72h–120h Pre-Emptive Intervention Timeline)</a:t>
            </a:r>
          </a:p>
        </p:txBody>
      </p:sp>
      <p:pic>
        <p:nvPicPr>
          <p:cNvPr id="6" name="Picture 5" descr="slide5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10728655" cy="1645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20"/>
            <a:ext cx="342900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50" b="1">
                <a:solidFill>
                  <a:srgbClr val="0284C7"/>
                </a:solidFill>
              </a:defRPr>
            </a:pPr>
            <a:r>
              <a:t>• Social Benefits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▪  Protects Vulnerable Citizens: </a:t>
            </a:r>
            <a:r>
              <a:rPr b="0">
                <a:solidFill>
                  <a:srgbClr val="1E293B"/>
                </a:solidFill>
              </a:rPr>
              <a:t>Dramatically reduces heatstroke morbidity among elderly, infants, and chronic disease patients.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▪  Protects Informal Laborers: </a:t>
            </a:r>
            <a:r>
              <a:rPr b="0">
                <a:solidFill>
                  <a:srgbClr val="1E293B"/>
                </a:solidFill>
              </a:rPr>
              <a:t>Enforces humane work-rest cycles for delivery and construction workers.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▪  Bilingual Public Alerts: </a:t>
            </a:r>
            <a:r>
              <a:rPr b="0">
                <a:solidFill>
                  <a:srgbClr val="1E293B"/>
                </a:solidFill>
              </a:rPr>
              <a:t>Delivers plain-language vernacular guidance via SMS/WhatsApp to eliminate technical barriers.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3017520"/>
            <a:ext cx="342900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50" b="1">
                <a:solidFill>
                  <a:srgbClr val="16A34A"/>
                </a:solidFill>
              </a:defRPr>
            </a:pPr>
            <a:r>
              <a:t>• Economic Benefits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▪  Prevents Productivity Loss: </a:t>
            </a:r>
            <a:r>
              <a:rPr b="0">
                <a:solidFill>
                  <a:srgbClr val="1E293B"/>
                </a:solidFill>
              </a:rPr>
              <a:t>Mitigates lost labor hours through scheduled morning/evening shifts ($3.8B/yr India heat loss).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▪  Optimized Relief Routing: </a:t>
            </a:r>
            <a:r>
              <a:rPr b="0">
                <a:solidFill>
                  <a:srgbClr val="1E293B"/>
                </a:solidFill>
              </a:rPr>
              <a:t>Avoids wasteful blanket relief by targeting water tankers to high-vulnerability wards.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▪  Reduces Emergency Care Costs: </a:t>
            </a:r>
            <a:r>
              <a:rPr b="0">
                <a:solidFill>
                  <a:srgbClr val="1E293B"/>
                </a:solidFill>
              </a:rPr>
              <a:t>Pre-empts severe multi-organ failure and ICU hospitalization surges.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3017520"/>
            <a:ext cx="342900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50" b="1">
                <a:solidFill>
                  <a:srgbClr val="EA580C"/>
                </a:solidFill>
              </a:defRPr>
            </a:pPr>
            <a:r>
              <a:t>• Environmental &amp; Urban Benefits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▪  Urban Heat Island (UHI) Mapping: </a:t>
            </a:r>
            <a:r>
              <a:rPr b="0">
                <a:solidFill>
                  <a:srgbClr val="1E293B"/>
                </a:solidFill>
              </a:rPr>
              <a:t>Identifies micro-urban hot spots and green canopy deficits.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▪  Sustainable Urban Planning: </a:t>
            </a:r>
            <a:r>
              <a:rPr b="0">
                <a:solidFill>
                  <a:srgbClr val="1E293B"/>
                </a:solidFill>
              </a:rPr>
              <a:t>Guides long-term municipal cool roof installations and tree planting programs.</a:t>
            </a:r>
          </a:p>
          <a:p>
            <a:pPr>
              <a:spcBef>
                <a:spcPts val="300"/>
              </a:spcBef>
              <a:defRPr sz="850" b="1">
                <a:solidFill>
                  <a:srgbClr val="1D4E89"/>
                </a:solidFill>
              </a:defRPr>
            </a:pPr>
            <a:r>
              <a:t>▪  Effective Climate Resilience: </a:t>
            </a:r>
            <a:r>
              <a:rPr b="0">
                <a:solidFill>
                  <a:srgbClr val="1E293B"/>
                </a:solidFill>
              </a:rPr>
              <a:t>Operationalizes national disaster mitigation at municipal ward scale.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64592"/>
            <a:ext cx="13716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Thermo-</a:t>
            </a:r>
          </a:p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182880"/>
            <a:ext cx="75895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920240" cy="722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144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50" b="1">
                <a:solidFill>
                  <a:srgbClr val="1D4E89"/>
                </a:solidFill>
              </a:defRPr>
            </a:pPr>
            <a:r>
              <a:t>• Details / Links of the Reference and Research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89"/>
                </a:solidFill>
              </a:defRPr>
            </a:pPr>
            <a:r>
              <a:t>• Universal Thermal Climate Index (UTCI) Consortium (WMO / COST Action 730): </a:t>
            </a:r>
            <a:r>
              <a:rPr b="0">
                <a:solidFill>
                  <a:srgbClr val="1E293B"/>
                </a:solidFill>
              </a:rPr>
              <a:t>"Development of the Universal Thermal Climate Index (UTCI)", Bröde, Fiala, Błażejczyk et al., Int J Biometeorol (2012). Multi-node thermophysiological polynomial.</a:t>
            </a:r>
          </a:p>
          <a:p>
            <a:pPr>
              <a:spcBef>
                <a:spcPts val="350"/>
              </a:spcBef>
              <a:defRPr sz="950" b="1">
                <a:solidFill>
                  <a:srgbClr val="1D4E89"/>
                </a:solidFill>
              </a:defRPr>
            </a:pPr>
            <a:r>
              <a:t>• Occupational Heat Stress Standards (ISO 7243:2017 &amp; NIOSH): </a:t>
            </a:r>
            <a:r>
              <a:rPr b="0">
                <a:solidFill>
                  <a:srgbClr val="1E293B"/>
                </a:solidFill>
              </a:rPr>
              <a:t>"Criteria for a Recommended Standard: Occupational Exposure to Heat and Hot Environments", CDC / NIOSH Publication No. 2016-106. Standard for WBGT thresholds &amp; work-rest cycles.</a:t>
            </a:r>
          </a:p>
          <a:p>
            <a:pPr>
              <a:spcBef>
                <a:spcPts val="350"/>
              </a:spcBef>
              <a:defRPr sz="950" b="1">
                <a:solidFill>
                  <a:srgbClr val="1D4E89"/>
                </a:solidFill>
              </a:defRPr>
            </a:pPr>
            <a:r>
              <a:t>• Epidemiological Heat-Health Grounding in Indian Cities (Ahmedabad 2010): </a:t>
            </a:r>
            <a:r>
              <a:rPr b="0">
                <a:solidFill>
                  <a:srgbClr val="1E293B"/>
                </a:solidFill>
              </a:rPr>
              <a:t>"The 2010 Ahmedabad Heat Wave: Impact on Mortality and Strategy for Resilient Cities", Azhar et al., PLoS ONE (2014). Documented 1,344 excess deaths (43.1% surge) validating humidity-heat risk.</a:t>
            </a:r>
          </a:p>
          <a:p>
            <a:pPr>
              <a:spcBef>
                <a:spcPts val="350"/>
              </a:spcBef>
              <a:defRPr sz="950" b="1">
                <a:solidFill>
                  <a:srgbClr val="1D4E89"/>
                </a:solidFill>
              </a:defRPr>
            </a:pPr>
            <a:r>
              <a:t>• 50-Year Multi-Decadal Heat Impact in India (PNAS Reference): </a:t>
            </a:r>
            <a:r>
              <a:rPr b="0">
                <a:solidFill>
                  <a:srgbClr val="1E293B"/>
                </a:solidFill>
              </a:rPr>
              <a:t>"Increasing probability of mass-fatality heatwaves in India", Mazdiyasni et al., Proceedings of the National Academy of Sciences (PNAS, 2017). Proving +0.5°C threshold triggers 146% rise in mass mortality events.</a:t>
            </a:r>
          </a:p>
          <a:p>
            <a:pPr>
              <a:spcBef>
                <a:spcPts val="350"/>
              </a:spcBef>
              <a:defRPr sz="950" b="1">
                <a:solidFill>
                  <a:srgbClr val="1D4E89"/>
                </a:solidFill>
              </a:defRPr>
            </a:pPr>
            <a:r>
              <a:t>• National Disaster &amp; Health Policy Guidelines (NDMA &amp; MoHFW NCDC): </a:t>
            </a:r>
            <a:r>
              <a:rPr b="0">
                <a:solidFill>
                  <a:srgbClr val="1E293B"/>
                </a:solidFill>
              </a:rPr>
              <a:t>"National Action Plan for Heat-Related Illnesses (NAP-HRI)", National Programme on Climate Change and Human Health (NPCCHH, 2024) &amp; NDMA National Heatwave Guidelines.</a:t>
            </a:r>
          </a:p>
          <a:p>
            <a:pPr>
              <a:spcBef>
                <a:spcPts val="350"/>
              </a:spcBef>
              <a:defRPr sz="950" b="1">
                <a:solidFill>
                  <a:srgbClr val="1D4E89"/>
                </a:solidFill>
              </a:defRPr>
            </a:pPr>
            <a:r>
              <a:t>• NWP &amp; Satellite Climatology Portals: </a:t>
            </a:r>
            <a:r>
              <a:rPr b="0">
                <a:solidFill>
                  <a:srgbClr val="1E293B"/>
                </a:solidFill>
              </a:rPr>
              <a:t>National Centre for Medium Range Weather Forecasting (NCMRWF) NWP Portal, IMD Geospatial Bulletins &amp; NASA POWER MERRA-2 (LaRC) 40-Year Climatological Baseline.</a:t>
            </a:r>
          </a:p>
          <a:p>
            <a:pPr>
              <a:spcBef>
                <a:spcPts val="350"/>
              </a:spcBef>
              <a:defRPr sz="950" b="1">
                <a:solidFill>
                  <a:srgbClr val="1D4E89"/>
                </a:solidFill>
              </a:defRPr>
            </a:pPr>
            <a:r>
              <a:t>• Demographic Spatial Vulnerability: </a:t>
            </a:r>
            <a:r>
              <a:rPr b="0">
                <a:solidFill>
                  <a:srgbClr val="1E293B"/>
                </a:solidFill>
              </a:rPr>
              <a:t>Census of India 2011 Primary Census Abstract (PCA) Ward Demographics &amp; Open-Meteo High-Resolution Numerical Weather Prediction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7315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89"/>
                </a:solidFill>
              </a:defRPr>
            </a:pPr>
            <a:r>
              <a:t>RESEARCH GAP SOLVED: Existing systems provide either macro-weather forecasts OR static vulnerability maps. ThermoShield operationalizes the complete unified pipeline: Forecast → Physiological Thermal Stress → Demographic Vulnerability → Ward Risk → Automated 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