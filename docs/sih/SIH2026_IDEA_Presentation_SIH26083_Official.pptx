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8686800" cy="548640"/>
          </a:xfrm>
          <a:prstGeom prst="rect">
            <a:avLst/>
          </a:prstGeom>
          <a:noFill/>
        </p:spPr>
        <p:txBody>
          <a:bodyPr wrap="none">
            <a:spAutoFit/>
          </a:bodyPr>
          <a:lstStyle/>
          <a:p>
            <a:pPr>
              <a:defRPr sz="2600" b="1">
                <a:solidFill>
                  <a:srgbClr val="0F2C59"/>
                </a:solidFill>
                <a:latin typeface="Georgia"/>
              </a:defRPr>
            </a:pPr>
            <a:r>
              <a:t>SMART INDIA HACKATHON 2026</a:t>
            </a:r>
          </a:p>
        </p:txBody>
      </p:sp>
      <p:sp>
        <p:nvSpPr>
          <p:cNvPr id="3" name="Rounded Rectangle 2"/>
          <p:cNvSpPr/>
          <p:nvPr/>
        </p:nvSpPr>
        <p:spPr>
          <a:xfrm>
            <a:off x="9601200" y="320040"/>
            <a:ext cx="2011680" cy="731520"/>
          </a:xfrm>
          <a:prstGeom prst="roundRect">
            <a:avLst/>
          </a:prstGeom>
          <a:solidFill>
            <a:srgbClr val="FEF3C7"/>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F2C59"/>
                </a:solidFill>
              </a:defRPr>
            </a:pPr>
            <a:r>
              <a:t>SMART INDIA</a:t>
            </a:r>
          </a:p>
          <a:p>
            <a:pPr algn="ctr">
              <a:defRPr sz="1100" b="1">
                <a:solidFill>
                  <a:srgbClr val="EA580C"/>
                </a:solidFill>
              </a:defRPr>
            </a:pPr>
            <a:r>
              <a:t>HACKATHON 2026</a:t>
            </a:r>
          </a:p>
        </p:txBody>
      </p:sp>
      <p:sp>
        <p:nvSpPr>
          <p:cNvPr id="4" name="TextBox 3"/>
          <p:cNvSpPr txBox="1"/>
          <p:nvPr/>
        </p:nvSpPr>
        <p:spPr>
          <a:xfrm>
            <a:off x="731520" y="1097280"/>
            <a:ext cx="10728655" cy="731520"/>
          </a:xfrm>
          <a:prstGeom prst="rect">
            <a:avLst/>
          </a:prstGeom>
          <a:noFill/>
        </p:spPr>
        <p:txBody>
          <a:bodyPr wrap="none">
            <a:spAutoFit/>
          </a:bodyPr>
          <a:lstStyle/>
          <a:p>
            <a:pPr>
              <a:defRPr sz="2200" b="1">
                <a:solidFill>
                  <a:srgbClr val="0F172A"/>
                </a:solidFill>
                <a:latin typeface="Georgia"/>
              </a:defRPr>
            </a:pPr>
            <a:r>
              <a:t>ThermoShield — AI-Driven Human Heat Risk &amp; Early Warning System</a:t>
            </a:r>
          </a:p>
        </p:txBody>
      </p:sp>
      <p:sp>
        <p:nvSpPr>
          <p:cNvPr id="5" name="TextBox 4"/>
          <p:cNvSpPr txBox="1"/>
          <p:nvPr/>
        </p:nvSpPr>
        <p:spPr>
          <a:xfrm>
            <a:off x="731520" y="1920240"/>
            <a:ext cx="6217920" cy="4297680"/>
          </a:xfrm>
          <a:prstGeom prst="rect">
            <a:avLst/>
          </a:prstGeom>
          <a:noFill/>
        </p:spPr>
        <p:txBody>
          <a:bodyPr wrap="square" lIns="0" tIns="0" rIns="0" bIns="0">
            <a:spAutoFit/>
          </a:bodyPr>
          <a:lstStyle/>
          <a:p>
            <a:pPr>
              <a:defRPr sz="1200" b="1" u="sng">
                <a:solidFill>
                  <a:srgbClr val="0F172A"/>
                </a:solidFill>
                <a:latin typeface="Arial"/>
              </a:defRPr>
            </a:pPr>
            <a:r>
              <a:t>• Problem Statement ID – </a:t>
            </a:r>
            <a:r>
              <a:rPr b="0" u="none">
                <a:solidFill>
                  <a:srgbClr val="0F2C59"/>
                </a:solidFill>
              </a:rPr>
              <a:t>SIH26083</a:t>
            </a:r>
          </a:p>
          <a:p>
            <a:pPr>
              <a:spcBef>
                <a:spcPts val="800"/>
              </a:spcBef>
              <a:defRPr sz="1200" b="1" u="sng">
                <a:solidFill>
                  <a:srgbClr val="0F172A"/>
                </a:solidFill>
                <a:latin typeface="Arial"/>
              </a:defRPr>
            </a:pPr>
            <a:r>
              <a:t>• Problem Statement Title – </a:t>
            </a:r>
            <a:r>
              <a:rPr b="0" u="none">
                <a:solidFill>
                  <a:srgbClr val="0F172A"/>
                </a:solidFill>
              </a:rPr>
              <a:t>Extreme Heatwave Early Warning and Human Thermal Stress Index</a:t>
            </a:r>
          </a:p>
          <a:p>
            <a:pPr>
              <a:spcBef>
                <a:spcPts val="800"/>
              </a:spcBef>
              <a:defRPr sz="1200" b="1" u="sng">
                <a:solidFill>
                  <a:srgbClr val="0F172A"/>
                </a:solidFill>
                <a:latin typeface="Arial"/>
              </a:defRPr>
            </a:pPr>
            <a:r>
              <a:t>• Theme – </a:t>
            </a:r>
            <a:r>
              <a:rPr b="0" u="none">
                <a:solidFill>
                  <a:srgbClr val="0F172A"/>
                </a:solidFill>
              </a:rPr>
              <a:t>Disaster Management</a:t>
            </a:r>
          </a:p>
          <a:p>
            <a:pPr>
              <a:spcBef>
                <a:spcPts val="800"/>
              </a:spcBef>
              <a:defRPr sz="1200" b="1" u="sng">
                <a:solidFill>
                  <a:srgbClr val="0F172A"/>
                </a:solidFill>
                <a:latin typeface="Arial"/>
              </a:defRPr>
            </a:pPr>
            <a:r>
              <a:t>• PS Category – </a:t>
            </a:r>
            <a:r>
              <a:rPr b="0" u="none">
                <a:solidFill>
                  <a:srgbClr val="0F172A"/>
                </a:solidFill>
              </a:rPr>
              <a:t>Software</a:t>
            </a:r>
          </a:p>
          <a:p>
            <a:pPr>
              <a:spcBef>
                <a:spcPts val="800"/>
              </a:spcBef>
              <a:defRPr sz="1200" b="1" u="sng">
                <a:solidFill>
                  <a:srgbClr val="0F172A"/>
                </a:solidFill>
                <a:latin typeface="Arial"/>
              </a:defRPr>
            </a:pPr>
            <a:r>
              <a:t>• Organization – </a:t>
            </a:r>
            <a:r>
              <a:rPr b="0" u="none">
                <a:solidFill>
                  <a:srgbClr val="0F172A"/>
                </a:solidFill>
              </a:rPr>
              <a:t>Ministry of Earth Sciences (MoES) / NCMRWF</a:t>
            </a:r>
          </a:p>
          <a:p>
            <a:pPr>
              <a:spcBef>
                <a:spcPts val="800"/>
              </a:spcBef>
              <a:defRPr sz="1200" b="1" u="sng">
                <a:solidFill>
                  <a:srgbClr val="0F172A"/>
                </a:solidFill>
                <a:latin typeface="Arial"/>
              </a:defRPr>
            </a:pPr>
            <a:r>
              <a:t>• Team ID – </a:t>
            </a:r>
            <a:r>
              <a:rPr b="0" u="none">
                <a:solidFill>
                  <a:srgbClr val="0F2C59"/>
                </a:solidFill>
              </a:rPr>
              <a:t>[YOUR REGISTERED TEAM ID]</a:t>
            </a:r>
          </a:p>
          <a:p>
            <a:pPr>
              <a:spcBef>
                <a:spcPts val="800"/>
              </a:spcBef>
              <a:defRPr sz="1200" b="1" u="sng">
                <a:solidFill>
                  <a:srgbClr val="0F172A"/>
                </a:solidFill>
                <a:latin typeface="Arial"/>
              </a:defRPr>
            </a:pPr>
            <a:r>
              <a:t>• Team Name – </a:t>
            </a:r>
            <a:r>
              <a:rPr b="0" u="none">
                <a:solidFill>
                  <a:srgbClr val="0F2C59"/>
                </a:solidFill>
              </a:rPr>
              <a:t>[YOUR REGISTERED TEAM NAME]</a:t>
            </a:r>
          </a:p>
        </p:txBody>
      </p:sp>
      <p:sp>
        <p:nvSpPr>
          <p:cNvPr id="6" name="Rounded Rectangle 5"/>
          <p:cNvSpPr/>
          <p:nvPr/>
        </p:nvSpPr>
        <p:spPr>
          <a:xfrm>
            <a:off x="7132320" y="1920240"/>
            <a:ext cx="4480560" cy="4206240"/>
          </a:xfrm>
          <a:prstGeom prst="roundRect">
            <a:avLst/>
          </a:prstGeom>
          <a:solidFill>
            <a:srgbClr val="F0F9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C59"/>
                </a:solidFill>
              </a:defRPr>
            </a:pPr>
            <a:r>
              <a:t>CORE MISSION &amp; SCOPE</a:t>
            </a:r>
          </a:p>
          <a:p>
            <a:pPr>
              <a:spcBef>
                <a:spcPts val="800"/>
              </a:spcBef>
              <a:defRPr sz="1050" b="1">
                <a:solidFill>
                  <a:srgbClr val="0F172A"/>
                </a:solidFill>
              </a:defRPr>
            </a:pPr>
            <a:r>
              <a:t>✓  From Weather Forecasts → Human Thermal Stress → Localized Action</a:t>
            </a:r>
          </a:p>
          <a:p>
            <a:pPr>
              <a:spcBef>
                <a:spcPts val="800"/>
              </a:spcBef>
              <a:defRPr sz="1050" b="1">
                <a:solidFill>
                  <a:srgbClr val="0F172A"/>
                </a:solidFill>
              </a:defRPr>
            </a:pPr>
            <a:r>
              <a:t>✓  Universal Thermal Climate Index (UTCI) + ISO 7243 WBGT Core</a:t>
            </a:r>
          </a:p>
          <a:p>
            <a:pPr>
              <a:spcBef>
                <a:spcPts val="800"/>
              </a:spcBef>
              <a:defRPr sz="1050" b="1">
                <a:solidFill>
                  <a:srgbClr val="0F172A"/>
                </a:solidFill>
              </a:defRPr>
            </a:pPr>
            <a:r>
              <a:t>✓  Census 2011 PCA Demographic Vulnerability Mapping (HVI)</a:t>
            </a:r>
          </a:p>
          <a:p>
            <a:pPr>
              <a:spcBef>
                <a:spcPts val="800"/>
              </a:spcBef>
              <a:defRPr sz="1050" b="1">
                <a:solidFill>
                  <a:srgbClr val="0F172A"/>
                </a:solidFill>
              </a:defRPr>
            </a:pPr>
            <a:r>
              <a:t>✓  Automated Bilingual NDMA Action Playbooks &amp; Hospital Triggers</a:t>
            </a:r>
          </a:p>
          <a:p>
            <a:pPr>
              <a:spcBef>
                <a:spcPts val="800"/>
              </a:spcBef>
              <a:defRPr sz="1050" b="1">
                <a:solidFill>
                  <a:srgbClr val="0F172A"/>
                </a:solidFill>
              </a:defRPr>
            </a:pPr>
            <a:r>
              <a:t>✓  3–5 Day (72h–120h) Pre-Emptive Forecast &amp; Intervention Engine</a:t>
            </a:r>
          </a:p>
        </p:txBody>
      </p:sp>
      <p:sp>
        <p:nvSpPr>
          <p:cNvPr id="7" name="Rectangle 6"/>
          <p:cNvSpPr/>
          <p:nvPr/>
        </p:nvSpPr>
        <p:spPr>
          <a:xfrm>
            <a:off x="0" y="6446520"/>
            <a:ext cx="12191695" cy="41148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10528"/>
            <a:ext cx="10728655" cy="320040"/>
          </a:xfrm>
          <a:prstGeom prst="rect">
            <a:avLst/>
          </a:prstGeom>
          <a:noFill/>
        </p:spPr>
        <p:txBody>
          <a:bodyPr wrap="none" lIns="0" tIns="0" rIns="0" bIns="0">
            <a:spAutoFit/>
          </a:bodyPr>
          <a:lstStyle/>
          <a:p>
            <a:pPr algn="ctr">
              <a:defRPr sz="1000">
                <a:solidFill>
                  <a:srgbClr val="FFFFFF"/>
                </a:solidFill>
                <a:latin typeface="Arial"/>
              </a:defRPr>
            </a:pPr>
            <a:r>
              <a:t>@SIH Idea submission- Template</a:t>
            </a:r>
          </a:p>
        </p:txBody>
      </p:sp>
      <p:sp>
        <p:nvSpPr>
          <p:cNvPr id="9" name="TextBox 8"/>
          <p:cNvSpPr txBox="1"/>
          <p:nvPr/>
        </p:nvSpPr>
        <p:spPr>
          <a:xfrm>
            <a:off x="11155680" y="6510528"/>
            <a:ext cx="731520" cy="320040"/>
          </a:xfrm>
          <a:prstGeom prst="rect">
            <a:avLst/>
          </a:prstGeom>
          <a:noFill/>
        </p:spPr>
        <p:txBody>
          <a:bodyPr wrap="none">
            <a:spAutoFit/>
          </a:bodyPr>
          <a:lstStyle/>
          <a:p>
            <a:pPr algn="r">
              <a:defRPr sz="1100" b="1">
                <a:solidFill>
                  <a:srgbClr val="FFFFFF"/>
                </a:solidFill>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548640" y="228600"/>
            <a:ext cx="2011680" cy="502920"/>
          </a:xfrm>
          <a:prstGeom prst="roundRect">
            <a:avLst/>
          </a:prstGeom>
          <a:solidFill>
            <a:srgbClr val="F3E8FF"/>
          </a:solidFill>
          <a:ln w="1905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6D28D9"/>
                </a:solidFill>
              </a:defRPr>
            </a:pPr>
            <a:r>
              <a:t>ThermoShield</a:t>
            </a:r>
          </a:p>
        </p:txBody>
      </p:sp>
      <p:sp>
        <p:nvSpPr>
          <p:cNvPr id="3" name="TextBox 2"/>
          <p:cNvSpPr txBox="1"/>
          <p:nvPr/>
        </p:nvSpPr>
        <p:spPr>
          <a:xfrm>
            <a:off x="2743200" y="182880"/>
            <a:ext cx="6705295" cy="594360"/>
          </a:xfrm>
          <a:prstGeom prst="rect">
            <a:avLst/>
          </a:prstGeom>
          <a:noFill/>
        </p:spPr>
        <p:txBody>
          <a:bodyPr wrap="square" lIns="0" tIns="0" rIns="0" bIns="0">
            <a:spAutoFit/>
          </a:bodyPr>
          <a:lstStyle/>
          <a:p>
            <a:pPr algn="ctr">
              <a:defRPr sz="1800" b="1">
                <a:solidFill>
                  <a:srgbClr val="0F172A"/>
                </a:solidFill>
                <a:latin typeface="Georgia"/>
              </a:defRPr>
            </a:pPr>
            <a:r>
              <a:t>ThermoShield : AI-Driven Human Heat Risk &amp; Early Warning System</a:t>
            </a:r>
          </a:p>
        </p:txBody>
      </p:sp>
      <p:sp>
        <p:nvSpPr>
          <p:cNvPr id="4" name="Rounded Rectangle 3"/>
          <p:cNvSpPr/>
          <p:nvPr/>
        </p:nvSpPr>
        <p:spPr>
          <a:xfrm>
            <a:off x="9601200" y="182880"/>
            <a:ext cx="2011680" cy="594360"/>
          </a:xfrm>
          <a:prstGeom prst="roundRect">
            <a:avLst/>
          </a:prstGeom>
          <a:solidFill>
            <a:srgbClr val="FEF3C7"/>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F2C59"/>
                </a:solidFill>
              </a:defRPr>
            </a:pPr>
            <a:r>
              <a:t>SMART INDIA</a:t>
            </a:r>
          </a:p>
          <a:p>
            <a:pPr algn="ctr">
              <a:defRPr sz="950" b="1">
                <a:solidFill>
                  <a:srgbClr val="EA580C"/>
                </a:solidFill>
              </a:defRPr>
            </a:pPr>
            <a:r>
              <a:t>HACKATHON 2026</a:t>
            </a:r>
          </a:p>
        </p:txBody>
      </p:sp>
      <p:sp>
        <p:nvSpPr>
          <p:cNvPr id="5" name="TextBox 4"/>
          <p:cNvSpPr txBox="1"/>
          <p:nvPr/>
        </p:nvSpPr>
        <p:spPr>
          <a:xfrm>
            <a:off x="731520" y="1051560"/>
            <a:ext cx="10728655" cy="5212080"/>
          </a:xfrm>
          <a:prstGeom prst="rect">
            <a:avLst/>
          </a:prstGeom>
          <a:noFill/>
        </p:spPr>
        <p:txBody>
          <a:bodyPr wrap="square" lIns="0" tIns="0" rIns="0" bIns="0">
            <a:spAutoFit/>
          </a:bodyPr>
          <a:lstStyle/>
          <a:p>
            <a:pPr>
              <a:spcBef>
                <a:spcPts val="400"/>
              </a:spcBef>
              <a:defRPr sz="950" b="1">
                <a:solidFill>
                  <a:srgbClr val="0F2C59"/>
                </a:solidFill>
              </a:defRPr>
            </a:pPr>
            <a:r>
              <a:t>❖  Dual-Branch Biometeorological Model: </a:t>
            </a:r>
            <a:r>
              <a:rPr b="0">
                <a:solidFill>
                  <a:srgbClr val="0F172A"/>
                </a:solidFill>
              </a:rPr>
              <a:t>System utilizes two parallel analytical pipelines: one for Atmospheric Dynamics (NWP temperature, humidity, wind velocity, solar radiation) and one for Demographic Vulnerability (Census 2011 PCA elderly density, slum households, outdoor labor concentration, canopy deficit). Mathematical algorithms extract physiological heat stress indicators while GIS spatial models calculate ward-level vulnerability.</a:t>
            </a:r>
          </a:p>
          <a:p>
            <a:pPr>
              <a:spcBef>
                <a:spcPts val="400"/>
              </a:spcBef>
              <a:defRPr sz="950" b="1">
                <a:solidFill>
                  <a:srgbClr val="0F2C59"/>
                </a:solidFill>
              </a:defRPr>
            </a:pPr>
            <a:r>
              <a:t>❖  Universal Thermal Stress Engine: </a:t>
            </a:r>
            <a:r>
              <a:rPr b="0">
                <a:solidFill>
                  <a:srgbClr val="0F172A"/>
                </a:solidFill>
              </a:rPr>
              <a:t>Thermal stress is computed using the Universal Thermal Climate Index (UTCI, 6th-order polynomial based on the Fiala 187-node human thermoregulation model) and ISO 7243 Outdoor WBGT (Stull wet-bulb + Liljegren radiation model). Accurately models human sweat evaporation breakdown where 40°C with high humidity turns lethal.</a:t>
            </a:r>
          </a:p>
          <a:p>
            <a:pPr>
              <a:spcBef>
                <a:spcPts val="400"/>
              </a:spcBef>
              <a:defRPr sz="950" b="1">
                <a:solidFill>
                  <a:srgbClr val="0F2C59"/>
                </a:solidFill>
              </a:defRPr>
            </a:pPr>
            <a:r>
              <a:t>❖  Multi-Day Heat Persistence &amp; Nighttime Penalty: </a:t>
            </a:r>
            <a:r>
              <a:rPr b="0">
                <a:solidFill>
                  <a:srgbClr val="0F172A"/>
                </a:solidFill>
              </a:rPr>
              <a:t>Calculates cumulative thermal accumulation via exponential persistence duration multiplier (Dmult). Accounts for uncooled nocturnal minimum temperatures (Tmin &gt; 28°C) that prevent physiological recovery and double cardiovascular stress.</a:t>
            </a:r>
          </a:p>
          <a:p>
            <a:pPr>
              <a:spcBef>
                <a:spcPts val="400"/>
              </a:spcBef>
              <a:defRPr sz="950" b="1">
                <a:solidFill>
                  <a:srgbClr val="0F2C59"/>
                </a:solidFill>
              </a:defRPr>
            </a:pPr>
            <a:r>
              <a:t>❖  AI Health Risk Model &amp; Multi-Factor Loss Optimization: </a:t>
            </a:r>
            <a:r>
              <a:rPr b="0">
                <a:solidFill>
                  <a:srgbClr val="0F172A"/>
                </a:solidFill>
              </a:rPr>
              <a:t>The model synthesizes atmospheric hazard with local socio-economic vulnerability into a normalized 0–100 Human Heat-Health Risk Score:</a:t>
            </a:r>
          </a:p>
          <a:p>
            <a:pPr>
              <a:spcBef>
                <a:spcPts val="200"/>
              </a:spcBef>
              <a:defRPr sz="900" b="1">
                <a:solidFill>
                  <a:srgbClr val="EA580C"/>
                </a:solidFill>
              </a:defRPr>
            </a:pPr>
            <a:r>
              <a:t>     ■  Relative Health Risk Loss: </a:t>
            </a:r>
            <a:r>
              <a:rPr b="0">
                <a:solidFill>
                  <a:srgbClr val="0F172A"/>
                </a:solidFill>
              </a:rPr>
              <a:t>Calibrated against empirical epidemiological benchmarks (Azhar et al. 2014 &amp; Mazdiyasni et al. 2017).</a:t>
            </a:r>
          </a:p>
          <a:p>
            <a:pPr>
              <a:spcBef>
                <a:spcPts val="200"/>
              </a:spcBef>
              <a:defRPr sz="900" b="1">
                <a:solidFill>
                  <a:srgbClr val="EA580C"/>
                </a:solidFill>
              </a:defRPr>
            </a:pPr>
            <a:r>
              <a:t>     ■  Monotonicity Constraint: </a:t>
            </a:r>
            <a:r>
              <a:rPr b="0">
                <a:solidFill>
                  <a:srgbClr val="0F172A"/>
                </a:solidFill>
              </a:rPr>
              <a:t>Guarantees mathematically that higher humidity/temperature strictly escalates risk scores.</a:t>
            </a:r>
          </a:p>
          <a:p>
            <a:pPr>
              <a:spcBef>
                <a:spcPts val="200"/>
              </a:spcBef>
              <a:defRPr sz="900" b="1">
                <a:solidFill>
                  <a:srgbClr val="EA580C"/>
                </a:solidFill>
              </a:defRPr>
            </a:pPr>
            <a:r>
              <a:t>     ■  Ward Spatial Allocation Loss: </a:t>
            </a:r>
            <a:r>
              <a:rPr b="0">
                <a:solidFill>
                  <a:srgbClr val="0F172A"/>
                </a:solidFill>
              </a:rPr>
              <a:t>Ensures hyper-local resource allocation is prioritized toward high-vulnerability informal settlements.</a:t>
            </a:r>
          </a:p>
          <a:p>
            <a:pPr>
              <a:spcBef>
                <a:spcPts val="400"/>
              </a:spcBef>
              <a:defRPr sz="950" b="1">
                <a:solidFill>
                  <a:srgbClr val="0F2C59"/>
                </a:solidFill>
              </a:defRPr>
            </a:pPr>
            <a:r>
              <a:t>❖  Automated Action Engine &amp; Multi-Sector Dispatch: </a:t>
            </a:r>
            <a:r>
              <a:rPr b="0">
                <a:solidFill>
                  <a:srgbClr val="0F172A"/>
                </a:solidFill>
              </a:rPr>
              <a:t>Converts risk calculations directly into sector-specific automated triggers: Municipal water tanker routing, emergency hospital cooling ward surge beds, gig-worker NIOSH work-rest cycles (labor halts 11 AM–4 PM), and bilingual NDMA SMS/WhatsApp broadcasts.</a:t>
            </a:r>
          </a:p>
          <a:p>
            <a:pPr>
              <a:spcBef>
                <a:spcPts val="400"/>
              </a:spcBef>
              <a:defRPr sz="950" b="1">
                <a:solidFill>
                  <a:srgbClr val="0F2C59"/>
                </a:solidFill>
              </a:defRPr>
            </a:pPr>
            <a:r>
              <a:t>❖  Final Output &amp; Evaluation Metrics: </a:t>
            </a:r>
            <a:r>
              <a:rPr b="0">
                <a:solidFill>
                  <a:srgbClr val="0F172A"/>
                </a:solidFill>
              </a:rPr>
              <a:t>Delivers real-time interactive Leaflet GIS choropleths, 25 high-speed REST APIs, and automated multi-channel alert dispatch with validated sub-second execution.</a:t>
            </a:r>
          </a:p>
        </p:txBody>
      </p:sp>
      <p:sp>
        <p:nvSpPr>
          <p:cNvPr id="6" name="Rectangle 5"/>
          <p:cNvSpPr/>
          <p:nvPr/>
        </p:nvSpPr>
        <p:spPr>
          <a:xfrm>
            <a:off x="0" y="6446520"/>
            <a:ext cx="12191695" cy="41148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510528"/>
            <a:ext cx="10728655" cy="320040"/>
          </a:xfrm>
          <a:prstGeom prst="rect">
            <a:avLst/>
          </a:prstGeom>
          <a:noFill/>
        </p:spPr>
        <p:txBody>
          <a:bodyPr wrap="none" lIns="0" tIns="0" rIns="0" bIns="0">
            <a:spAutoFit/>
          </a:bodyPr>
          <a:lstStyle/>
          <a:p>
            <a:pPr algn="ctr">
              <a:defRPr sz="1000">
                <a:solidFill>
                  <a:srgbClr val="FFFFFF"/>
                </a:solidFill>
                <a:latin typeface="Arial"/>
              </a:defRPr>
            </a:pPr>
            <a:r>
              <a:t>@SIH Idea submission- Template</a:t>
            </a:r>
          </a:p>
        </p:txBody>
      </p:sp>
      <p:sp>
        <p:nvSpPr>
          <p:cNvPr id="8" name="TextBox 7"/>
          <p:cNvSpPr txBox="1"/>
          <p:nvPr/>
        </p:nvSpPr>
        <p:spPr>
          <a:xfrm>
            <a:off x="11155680" y="6510528"/>
            <a:ext cx="731520" cy="320040"/>
          </a:xfrm>
          <a:prstGeom prst="rect">
            <a:avLst/>
          </a:prstGeom>
          <a:noFill/>
        </p:spPr>
        <p:txBody>
          <a:bodyPr wrap="none">
            <a:spAutoFit/>
          </a:bodyPr>
          <a:lstStyle/>
          <a:p>
            <a:pPr algn="r">
              <a:defRPr sz="1100" b="1">
                <a:solidFill>
                  <a:srgbClr val="FFFFFF"/>
                </a:solidFill>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548640" y="228600"/>
            <a:ext cx="2011680" cy="502920"/>
          </a:xfrm>
          <a:prstGeom prst="roundRect">
            <a:avLst/>
          </a:prstGeom>
          <a:solidFill>
            <a:srgbClr val="F3E8FF"/>
          </a:solidFill>
          <a:ln w="1905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6D28D9"/>
                </a:solidFill>
              </a:defRPr>
            </a:pPr>
            <a:r>
              <a:t>ThermoShield</a:t>
            </a:r>
          </a:p>
        </p:txBody>
      </p:sp>
      <p:sp>
        <p:nvSpPr>
          <p:cNvPr id="3" name="TextBox 2"/>
          <p:cNvSpPr txBox="1"/>
          <p:nvPr/>
        </p:nvSpPr>
        <p:spPr>
          <a:xfrm>
            <a:off x="2743200" y="182880"/>
            <a:ext cx="6705295" cy="594360"/>
          </a:xfrm>
          <a:prstGeom prst="rect">
            <a:avLst/>
          </a:prstGeom>
          <a:noFill/>
        </p:spPr>
        <p:txBody>
          <a:bodyPr wrap="square" lIns="0" tIns="0" rIns="0" bIns="0">
            <a:spAutoFit/>
          </a:bodyPr>
          <a:lstStyle/>
          <a:p>
            <a:pPr algn="ctr">
              <a:defRPr sz="1800" b="1">
                <a:solidFill>
                  <a:srgbClr val="0F172A"/>
                </a:solidFill>
                <a:latin typeface="Georgia"/>
              </a:defRPr>
            </a:pPr>
            <a:r>
              <a:t>TECHNICAL APPROACH</a:t>
            </a:r>
          </a:p>
        </p:txBody>
      </p:sp>
      <p:sp>
        <p:nvSpPr>
          <p:cNvPr id="4" name="Rounded Rectangle 3"/>
          <p:cNvSpPr/>
          <p:nvPr/>
        </p:nvSpPr>
        <p:spPr>
          <a:xfrm>
            <a:off x="9601200" y="182880"/>
            <a:ext cx="2011680" cy="594360"/>
          </a:xfrm>
          <a:prstGeom prst="roundRect">
            <a:avLst/>
          </a:prstGeom>
          <a:solidFill>
            <a:srgbClr val="FEF3C7"/>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F2C59"/>
                </a:solidFill>
              </a:defRPr>
            </a:pPr>
            <a:r>
              <a:t>SMART INDIA</a:t>
            </a:r>
          </a:p>
          <a:p>
            <a:pPr algn="ctr">
              <a:defRPr sz="950" b="1">
                <a:solidFill>
                  <a:srgbClr val="EA580C"/>
                </a:solidFill>
              </a:defRPr>
            </a:pPr>
            <a:r>
              <a:t>HACKATHON 2026</a:t>
            </a:r>
          </a:p>
        </p:txBody>
      </p:sp>
      <p:sp>
        <p:nvSpPr>
          <p:cNvPr id="5" name="Rectangle 4"/>
          <p:cNvSpPr/>
          <p:nvPr/>
        </p:nvSpPr>
        <p:spPr>
          <a:xfrm>
            <a:off x="2743200" y="960120"/>
            <a:ext cx="6705295" cy="320040"/>
          </a:xfrm>
          <a:prstGeom prst="rect">
            <a:avLst/>
          </a:prstGeom>
          <a:solidFill>
            <a:srgbClr val="F0F9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F2C59"/>
                </a:solidFill>
              </a:defRPr>
            </a:pPr>
            <a:r>
              <a:t>ThermoShield Biometeorological &amp; Action Model: Implementation Architecture</a:t>
            </a:r>
          </a:p>
        </p:txBody>
      </p:sp>
      <p:sp>
        <p:nvSpPr>
          <p:cNvPr id="6" name="Rounded Rectangle 5"/>
          <p:cNvSpPr/>
          <p:nvPr/>
        </p:nvSpPr>
        <p:spPr>
          <a:xfrm>
            <a:off x="731520" y="1417320"/>
            <a:ext cx="2011680" cy="3474720"/>
          </a:xfrm>
          <a:prstGeom prst="roundRect">
            <a:avLst/>
          </a:prstGeom>
          <a:solidFill>
            <a:srgbClr val="F0F9FF"/>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EA580C"/>
                </a:solidFill>
              </a:defRPr>
            </a:pPr>
            <a:r>
              <a:t>1. MULTI-INPUT</a:t>
            </a:r>
            <a:br/>
            <a:r>
              <a:t>INGESTION</a:t>
            </a:r>
          </a:p>
          <a:p>
            <a:pPr>
              <a:spcBef>
                <a:spcPts val="400"/>
              </a:spcBef>
              <a:defRPr sz="850">
                <a:solidFill>
                  <a:srgbClr val="0F172A"/>
                </a:solidFill>
              </a:defRPr>
            </a:pPr>
            <a:r>
              <a:t>• NWP 5-Day Hourly Weather (0.1° Grid)</a:t>
            </a:r>
          </a:p>
          <a:p>
            <a:pPr>
              <a:spcBef>
                <a:spcPts val="400"/>
              </a:spcBef>
              <a:defRPr sz="850">
                <a:solidFill>
                  <a:srgbClr val="0F172A"/>
                </a:solidFill>
              </a:defRPr>
            </a:pPr>
            <a:r>
              <a:t>• NASA POWER 40-Yr Climatology Normal</a:t>
            </a:r>
          </a:p>
          <a:p>
            <a:pPr>
              <a:spcBef>
                <a:spcPts val="400"/>
              </a:spcBef>
              <a:defRPr sz="850">
                <a:solidFill>
                  <a:srgbClr val="0F172A"/>
                </a:solidFill>
              </a:defRPr>
            </a:pPr>
            <a:r>
              <a:t>• Census 2011 PCA Ward Demographics</a:t>
            </a:r>
          </a:p>
          <a:p>
            <a:pPr>
              <a:spcBef>
                <a:spcPts val="400"/>
              </a:spcBef>
              <a:defRPr sz="850">
                <a:solidFill>
                  <a:srgbClr val="0F172A"/>
                </a:solidFill>
              </a:defRPr>
            </a:pPr>
            <a:r>
              <a:t>• Satellite LST &amp; NDVI Land Cover</a:t>
            </a:r>
          </a:p>
        </p:txBody>
      </p:sp>
      <p:sp>
        <p:nvSpPr>
          <p:cNvPr id="7" name="Rounded Rectangle 6"/>
          <p:cNvSpPr/>
          <p:nvPr/>
        </p:nvSpPr>
        <p:spPr>
          <a:xfrm>
            <a:off x="2926080" y="1417320"/>
            <a:ext cx="2926080" cy="3474720"/>
          </a:xfrm>
          <a:prstGeom prst="roundRect">
            <a:avLst/>
          </a:prstGeom>
          <a:solidFill>
            <a:srgbClr val="F0FDF4"/>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6A34A"/>
                </a:solidFill>
              </a:defRPr>
            </a:pPr>
            <a:r>
              <a:t>2. THERMAL ENGINE &amp;</a:t>
            </a:r>
            <a:br/>
            <a:r>
              <a:t>PREPROCESSING</a:t>
            </a:r>
          </a:p>
          <a:p>
            <a:pPr>
              <a:spcBef>
                <a:spcPts val="400"/>
              </a:spcBef>
              <a:defRPr sz="850">
                <a:solidFill>
                  <a:srgbClr val="0F172A"/>
                </a:solidFill>
              </a:defRPr>
            </a:pPr>
            <a:r>
              <a:t>• Spatial Harmonization &amp; Alignment</a:t>
            </a:r>
          </a:p>
          <a:p>
            <a:pPr>
              <a:spcBef>
                <a:spcPts val="400"/>
              </a:spcBef>
              <a:defRPr sz="850">
                <a:solidFill>
                  <a:srgbClr val="0F172A"/>
                </a:solidFill>
              </a:defRPr>
            </a:pPr>
            <a:r>
              <a:t>• Vapor Pressure &amp; Wind Downscaling</a:t>
            </a:r>
          </a:p>
          <a:p>
            <a:pPr>
              <a:spcBef>
                <a:spcPts val="400"/>
              </a:spcBef>
              <a:defRPr sz="850">
                <a:solidFill>
                  <a:srgbClr val="0F172A"/>
                </a:solidFill>
              </a:defRPr>
            </a:pPr>
            <a:r>
              <a:t>• UTCI 6th-Order Polynomial (Fiala)</a:t>
            </a:r>
          </a:p>
          <a:p>
            <a:pPr>
              <a:spcBef>
                <a:spcPts val="400"/>
              </a:spcBef>
              <a:defRPr sz="850">
                <a:solidFill>
                  <a:srgbClr val="0F172A"/>
                </a:solidFill>
              </a:defRPr>
            </a:pPr>
            <a:r>
              <a:t>• ISO 7243 Outdoor WBGT Psychrometrics</a:t>
            </a:r>
          </a:p>
          <a:p>
            <a:pPr>
              <a:spcBef>
                <a:spcPts val="400"/>
              </a:spcBef>
              <a:defRPr sz="850">
                <a:solidFill>
                  <a:srgbClr val="0F172A"/>
                </a:solidFill>
              </a:defRPr>
            </a:pPr>
            <a:r>
              <a:t>• Cumulative Persistence Engine (Dmult)</a:t>
            </a:r>
          </a:p>
        </p:txBody>
      </p:sp>
      <p:sp>
        <p:nvSpPr>
          <p:cNvPr id="8" name="Rounded Rectangle 7"/>
          <p:cNvSpPr/>
          <p:nvPr/>
        </p:nvSpPr>
        <p:spPr>
          <a:xfrm>
            <a:off x="6035040" y="1417320"/>
            <a:ext cx="2926080" cy="3474720"/>
          </a:xfrm>
          <a:prstGeom prst="roundRect">
            <a:avLst/>
          </a:prstGeom>
          <a:solidFill>
            <a:srgbClr val="FEF2F2"/>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DC2626"/>
                </a:solidFill>
              </a:defRPr>
            </a:pPr>
            <a:r>
              <a:t>3. AI RISK &amp; HVI</a:t>
            </a:r>
            <a:br/>
            <a:r>
              <a:t>SYNTHESIS</a:t>
            </a:r>
          </a:p>
          <a:p>
            <a:pPr>
              <a:spcBef>
                <a:spcPts val="400"/>
              </a:spcBef>
              <a:defRPr sz="850">
                <a:solidFill>
                  <a:srgbClr val="0F172A"/>
                </a:solidFill>
              </a:defRPr>
            </a:pPr>
            <a:r>
              <a:t>• Demographic Heat Vulnerability (HVI)</a:t>
            </a:r>
          </a:p>
          <a:p>
            <a:pPr>
              <a:spcBef>
                <a:spcPts val="400"/>
              </a:spcBef>
              <a:defRPr sz="850">
                <a:solidFill>
                  <a:srgbClr val="0F172A"/>
                </a:solidFill>
              </a:defRPr>
            </a:pPr>
            <a:r>
              <a:t>• Elderly &amp; Outdoor Labor Weighting</a:t>
            </a:r>
          </a:p>
          <a:p>
            <a:pPr>
              <a:spcBef>
                <a:spcPts val="400"/>
              </a:spcBef>
              <a:defRPr sz="850">
                <a:solidFill>
                  <a:srgbClr val="0F172A"/>
                </a:solidFill>
              </a:defRPr>
            </a:pPr>
            <a:r>
              <a:t>• Slum Density &amp; Canopy Deficit</a:t>
            </a:r>
          </a:p>
          <a:p>
            <a:pPr>
              <a:spcBef>
                <a:spcPts val="400"/>
              </a:spcBef>
              <a:defRPr sz="850">
                <a:solidFill>
                  <a:srgbClr val="0F172A"/>
                </a:solidFill>
              </a:defRPr>
            </a:pPr>
            <a:r>
              <a:t>• Normalized 0–100 Heat-Health Score</a:t>
            </a:r>
          </a:p>
          <a:p>
            <a:pPr>
              <a:spcBef>
                <a:spcPts val="400"/>
              </a:spcBef>
              <a:defRPr sz="850">
                <a:solidFill>
                  <a:srgbClr val="0F172A"/>
                </a:solidFill>
              </a:defRPr>
            </a:pPr>
            <a:r>
              <a:t>• Relative Risk Epidemiological Model</a:t>
            </a:r>
          </a:p>
        </p:txBody>
      </p:sp>
      <p:sp>
        <p:nvSpPr>
          <p:cNvPr id="9" name="Rounded Rectangle 8"/>
          <p:cNvSpPr/>
          <p:nvPr/>
        </p:nvSpPr>
        <p:spPr>
          <a:xfrm>
            <a:off x="9144000" y="1417320"/>
            <a:ext cx="2316175" cy="3474720"/>
          </a:xfrm>
          <a:prstGeom prst="roundRect">
            <a:avLst/>
          </a:prstGeom>
          <a:solidFill>
            <a:srgbClr val="F0F9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0F2C59"/>
                </a:solidFill>
              </a:defRPr>
            </a:pPr>
            <a:r>
              <a:t>4. ACTION DELIVERY &amp;</a:t>
            </a:r>
            <a:br/>
            <a:r>
              <a:t>VALIDATION</a:t>
            </a:r>
          </a:p>
          <a:p>
            <a:pPr>
              <a:spcBef>
                <a:spcPts val="400"/>
              </a:spcBef>
              <a:defRPr sz="850">
                <a:solidFill>
                  <a:srgbClr val="0F172A"/>
                </a:solidFill>
              </a:defRPr>
            </a:pPr>
            <a:r>
              <a:t>• Interactive Leaflet GIS Map</a:t>
            </a:r>
          </a:p>
          <a:p>
            <a:pPr>
              <a:spcBef>
                <a:spcPts val="400"/>
              </a:spcBef>
              <a:defRPr sz="850">
                <a:solidFill>
                  <a:srgbClr val="0F172A"/>
                </a:solidFill>
              </a:defRPr>
            </a:pPr>
            <a:r>
              <a:t>• 25 REST APIs (FastAPI)</a:t>
            </a:r>
          </a:p>
          <a:p>
            <a:pPr>
              <a:spcBef>
                <a:spcPts val="400"/>
              </a:spcBef>
              <a:defRPr sz="850">
                <a:solidFill>
                  <a:srgbClr val="0F172A"/>
                </a:solidFill>
              </a:defRPr>
            </a:pPr>
            <a:r>
              <a:t>• Bilingual NDMA Action Playbooks</a:t>
            </a:r>
          </a:p>
          <a:p>
            <a:pPr>
              <a:spcBef>
                <a:spcPts val="400"/>
              </a:spcBef>
              <a:defRPr sz="850">
                <a:solidFill>
                  <a:srgbClr val="0F172A"/>
                </a:solidFill>
              </a:defRPr>
            </a:pPr>
            <a:r>
              <a:t>• Hospital Surge Bed Automation</a:t>
            </a:r>
          </a:p>
          <a:p>
            <a:pPr>
              <a:spcBef>
                <a:spcPts val="400"/>
              </a:spcBef>
              <a:defRPr sz="850">
                <a:solidFill>
                  <a:srgbClr val="0F172A"/>
                </a:solidFill>
              </a:defRPr>
            </a:pPr>
            <a:r>
              <a:t>• NIOSH Labor Halt Protocols</a:t>
            </a:r>
          </a:p>
        </p:txBody>
      </p:sp>
      <p:sp>
        <p:nvSpPr>
          <p:cNvPr id="10" name="Rounded Rectangle 9"/>
          <p:cNvSpPr/>
          <p:nvPr/>
        </p:nvSpPr>
        <p:spPr>
          <a:xfrm>
            <a:off x="731520" y="5029200"/>
            <a:ext cx="10728655" cy="1280160"/>
          </a:xfrm>
          <a:prstGeom prst="roundRect">
            <a:avLst/>
          </a:prstGeom>
          <a:solidFill>
            <a:srgbClr val="F8FAFC"/>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defRPr>
            </a:pPr>
            <a:r>
              <a:t>Technologies to be used:</a:t>
            </a:r>
          </a:p>
          <a:p>
            <a:pPr>
              <a:spcBef>
                <a:spcPts val="200"/>
              </a:spcBef>
              <a:defRPr sz="900">
                <a:solidFill>
                  <a:srgbClr val="0F172A"/>
                </a:solidFill>
              </a:defRPr>
            </a:pPr>
            <a:r>
              <a:t>• Core Backend: Python 3.11, FastAPI, Pydantic v2, Uvicorn, REST Architecture (25 Production Endpoints)</a:t>
            </a:r>
            <a:br/>
            <a:r>
              <a:t>• Scientific Computing &amp; GIS: NumPy, Pandas, GeoPandas, Shapely, Scipy (UTCI 6th-order polynomial &amp; psychrometrics)</a:t>
            </a:r>
            <a:br/>
            <a:r>
              <a:t>• Web GIS &amp; Visualization: Leaflet.js (Choropleth GIS), Chart.js (5-Day Trend Curves), HTML5/CSS3 Responsive UI</a:t>
            </a:r>
            <a:br/>
            <a:r>
              <a:t>• Deployment &amp; Data: Docker, Docker Compose, Linux VPS (Oracle Linux 6.17), Open-Meteo NWP, NASA POWER, Census India</a:t>
            </a:r>
          </a:p>
        </p:txBody>
      </p:sp>
      <p:sp>
        <p:nvSpPr>
          <p:cNvPr id="11" name="Rectangle 10"/>
          <p:cNvSpPr/>
          <p:nvPr/>
        </p:nvSpPr>
        <p:spPr>
          <a:xfrm>
            <a:off x="0" y="6446520"/>
            <a:ext cx="12191695" cy="41148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510528"/>
            <a:ext cx="10728655" cy="320040"/>
          </a:xfrm>
          <a:prstGeom prst="rect">
            <a:avLst/>
          </a:prstGeom>
          <a:noFill/>
        </p:spPr>
        <p:txBody>
          <a:bodyPr wrap="none" lIns="0" tIns="0" rIns="0" bIns="0">
            <a:spAutoFit/>
          </a:bodyPr>
          <a:lstStyle/>
          <a:p>
            <a:pPr algn="ctr">
              <a:defRPr sz="1000">
                <a:solidFill>
                  <a:srgbClr val="FFFFFF"/>
                </a:solidFill>
                <a:latin typeface="Arial"/>
              </a:defRPr>
            </a:pPr>
            <a:r>
              <a:t>@SIH Idea submission- Template</a:t>
            </a:r>
          </a:p>
        </p:txBody>
      </p:sp>
      <p:sp>
        <p:nvSpPr>
          <p:cNvPr id="13" name="TextBox 12"/>
          <p:cNvSpPr txBox="1"/>
          <p:nvPr/>
        </p:nvSpPr>
        <p:spPr>
          <a:xfrm>
            <a:off x="11155680" y="6510528"/>
            <a:ext cx="731520" cy="320040"/>
          </a:xfrm>
          <a:prstGeom prst="rect">
            <a:avLst/>
          </a:prstGeom>
          <a:noFill/>
        </p:spPr>
        <p:txBody>
          <a:bodyPr wrap="none">
            <a:spAutoFit/>
          </a:bodyPr>
          <a:lstStyle/>
          <a:p>
            <a:pPr algn="r">
              <a:defRPr sz="1100" b="1">
                <a:solidFill>
                  <a:srgbClr val="FFFFFF"/>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548640" y="228600"/>
            <a:ext cx="2011680" cy="502920"/>
          </a:xfrm>
          <a:prstGeom prst="roundRect">
            <a:avLst/>
          </a:prstGeom>
          <a:solidFill>
            <a:srgbClr val="F3E8FF"/>
          </a:solidFill>
          <a:ln w="1905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6D28D9"/>
                </a:solidFill>
              </a:defRPr>
            </a:pPr>
            <a:r>
              <a:t>ThermoShield</a:t>
            </a:r>
          </a:p>
        </p:txBody>
      </p:sp>
      <p:sp>
        <p:nvSpPr>
          <p:cNvPr id="3" name="TextBox 2"/>
          <p:cNvSpPr txBox="1"/>
          <p:nvPr/>
        </p:nvSpPr>
        <p:spPr>
          <a:xfrm>
            <a:off x="2743200" y="182880"/>
            <a:ext cx="6705295" cy="594360"/>
          </a:xfrm>
          <a:prstGeom prst="rect">
            <a:avLst/>
          </a:prstGeom>
          <a:noFill/>
        </p:spPr>
        <p:txBody>
          <a:bodyPr wrap="square" lIns="0" tIns="0" rIns="0" bIns="0">
            <a:spAutoFit/>
          </a:bodyPr>
          <a:lstStyle/>
          <a:p>
            <a:pPr algn="ctr">
              <a:defRPr sz="1800" b="1">
                <a:solidFill>
                  <a:srgbClr val="0F172A"/>
                </a:solidFill>
                <a:latin typeface="Georgia"/>
              </a:defRPr>
            </a:pPr>
            <a:r>
              <a:t>FEASIBILITY AND VIABILITY</a:t>
            </a:r>
          </a:p>
        </p:txBody>
      </p:sp>
      <p:sp>
        <p:nvSpPr>
          <p:cNvPr id="4" name="Rounded Rectangle 3"/>
          <p:cNvSpPr/>
          <p:nvPr/>
        </p:nvSpPr>
        <p:spPr>
          <a:xfrm>
            <a:off x="9601200" y="182880"/>
            <a:ext cx="2011680" cy="594360"/>
          </a:xfrm>
          <a:prstGeom prst="roundRect">
            <a:avLst/>
          </a:prstGeom>
          <a:solidFill>
            <a:srgbClr val="FEF3C7"/>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F2C59"/>
                </a:solidFill>
              </a:defRPr>
            </a:pPr>
            <a:r>
              <a:t>SMART INDIA</a:t>
            </a:r>
          </a:p>
          <a:p>
            <a:pPr algn="ctr">
              <a:defRPr sz="950" b="1">
                <a:solidFill>
                  <a:srgbClr val="EA580C"/>
                </a:solidFill>
              </a:defRPr>
            </a:pPr>
            <a:r>
              <a:t>HACKATHON 2026</a:t>
            </a:r>
          </a:p>
        </p:txBody>
      </p:sp>
      <p:sp>
        <p:nvSpPr>
          <p:cNvPr id="5" name="TextBox 4"/>
          <p:cNvSpPr txBox="1"/>
          <p:nvPr/>
        </p:nvSpPr>
        <p:spPr>
          <a:xfrm>
            <a:off x="731520" y="1005840"/>
            <a:ext cx="10728655" cy="1554480"/>
          </a:xfrm>
          <a:prstGeom prst="rect">
            <a:avLst/>
          </a:prstGeom>
          <a:noFill/>
        </p:spPr>
        <p:txBody>
          <a:bodyPr wrap="square" lIns="0" tIns="0" rIns="0" bIns="0">
            <a:spAutoFit/>
          </a:bodyPr>
          <a:lstStyle/>
          <a:p>
            <a:pPr>
              <a:defRPr sz="1100" b="1">
                <a:solidFill>
                  <a:srgbClr val="0F2C59"/>
                </a:solidFill>
              </a:defRPr>
            </a:pPr>
            <a:r>
              <a:t>❖  Is this Idea feasible ?</a:t>
            </a:r>
          </a:p>
          <a:p>
            <a:pPr>
              <a:spcBef>
                <a:spcPts val="200"/>
              </a:spcBef>
              <a:defRPr sz="950">
                <a:solidFill>
                  <a:srgbClr val="0F172A"/>
                </a:solidFill>
              </a:defRPr>
            </a:pPr>
            <a:r>
              <a:t>The proposed ThermoShield system is highly feasible due to the availability of open, keyless Tier-1 atmospheric datasets (Open-Meteo 0.1° NWP hourly forecasts and NASA POWER MERRA-2 40-year climatological baselines) and proven biometeorological algorithms (UTCI polynomial &amp; ISO 7243 WBGT). The integration of Census 2011 PCA demographics enables hyper-local ward-level vulnerability mapping without waiting for restricted government clearance.</a:t>
            </a:r>
          </a:p>
          <a:p>
            <a:pPr>
              <a:spcBef>
                <a:spcPts val="400"/>
              </a:spcBef>
              <a:defRPr sz="950" b="1">
                <a:solidFill>
                  <a:srgbClr val="0F2C59"/>
                </a:solidFill>
              </a:defRPr>
            </a:pPr>
            <a:r>
              <a:t>❖  Product Offering: We are offering this system to Municipal Corporations, State Disaster Management Authorities (SDMAs), Health Departments, and Gig/Labor platforms as an automated, impact-to-action early warning and resource coordination OS.</a:t>
            </a:r>
          </a:p>
        </p:txBody>
      </p:sp>
      <p:sp>
        <p:nvSpPr>
          <p:cNvPr id="6" name="Rounded Rectangle 5"/>
          <p:cNvSpPr/>
          <p:nvPr/>
        </p:nvSpPr>
        <p:spPr>
          <a:xfrm>
            <a:off x="731520" y="2743200"/>
            <a:ext cx="6858000" cy="35661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p>
        </p:txBody>
      </p:sp>
      <p:sp>
        <p:nvSpPr>
          <p:cNvPr id="7" name="TextBox 6"/>
          <p:cNvSpPr txBox="1"/>
          <p:nvPr/>
        </p:nvSpPr>
        <p:spPr>
          <a:xfrm>
            <a:off x="914400" y="2834640"/>
            <a:ext cx="6492240" cy="365760"/>
          </a:xfrm>
          <a:prstGeom prst="rect">
            <a:avLst/>
          </a:prstGeom>
          <a:noFill/>
        </p:spPr>
        <p:txBody>
          <a:bodyPr wrap="none">
            <a:spAutoFit/>
          </a:bodyPr>
          <a:lstStyle/>
          <a:p>
            <a:pPr>
              <a:defRPr sz="1050" b="1">
                <a:solidFill>
                  <a:srgbClr val="DC2626"/>
                </a:solidFill>
              </a:defRPr>
            </a:pPr>
            <a:r>
              <a:t>Challenges &amp; Risks:                                             Strategies for Overcoming:</a:t>
            </a:r>
          </a:p>
        </p:txBody>
      </p:sp>
      <p:sp>
        <p:nvSpPr>
          <p:cNvPr id="8" name="TextBox 7"/>
          <p:cNvSpPr txBox="1"/>
          <p:nvPr/>
        </p:nvSpPr>
        <p:spPr>
          <a:xfrm>
            <a:off x="914400" y="3291840"/>
            <a:ext cx="6492240" cy="594360"/>
          </a:xfrm>
          <a:prstGeom prst="rect">
            <a:avLst/>
          </a:prstGeom>
          <a:noFill/>
        </p:spPr>
        <p:txBody>
          <a:bodyPr wrap="square" lIns="0" tIns="0" rIns="0" bIns="0">
            <a:spAutoFit/>
          </a:bodyPr>
          <a:lstStyle/>
          <a:p>
            <a:r>
              <a:rPr sz="950" b="1">
                <a:solidFill>
                  <a:srgbClr val="DC2626"/>
                </a:solidFill>
              </a:rPr>
              <a:t>• Data Heterogeneity (Grid vs Wards)
</a:t>
            </a:r>
            <a:r>
              <a:rPr sz="950" b="1">
                <a:solidFill>
                  <a:srgbClr val="16A34A"/>
                </a:solidFill>
              </a:rPr>
              <a:t>   ➔  Spatial Harmonization &amp; Geometric Attribution</a:t>
            </a:r>
          </a:p>
        </p:txBody>
      </p:sp>
      <p:sp>
        <p:nvSpPr>
          <p:cNvPr id="9" name="TextBox 8"/>
          <p:cNvSpPr txBox="1"/>
          <p:nvPr/>
        </p:nvSpPr>
        <p:spPr>
          <a:xfrm>
            <a:off x="914400" y="3977639"/>
            <a:ext cx="6492240" cy="594360"/>
          </a:xfrm>
          <a:prstGeom prst="rect">
            <a:avLst/>
          </a:prstGeom>
          <a:noFill/>
        </p:spPr>
        <p:txBody>
          <a:bodyPr wrap="square" lIns="0" tIns="0" rIns="0" bIns="0">
            <a:spAutoFit/>
          </a:bodyPr>
          <a:lstStyle/>
          <a:p>
            <a:r>
              <a:rPr sz="950" b="1">
                <a:solidFill>
                  <a:srgbClr val="DC2626"/>
                </a:solidFill>
              </a:rPr>
              <a:t>• Confidential Hospital Mortality Records
</a:t>
            </a:r>
            <a:r>
              <a:rPr sz="950" b="1">
                <a:solidFill>
                  <a:srgbClr val="16A34A"/>
                </a:solidFill>
              </a:rPr>
              <a:t>   ➔  Epidemiological Calibration (Azhar 2014)</a:t>
            </a:r>
          </a:p>
        </p:txBody>
      </p:sp>
      <p:sp>
        <p:nvSpPr>
          <p:cNvPr id="10" name="TextBox 9"/>
          <p:cNvSpPr txBox="1"/>
          <p:nvPr/>
        </p:nvSpPr>
        <p:spPr>
          <a:xfrm>
            <a:off x="914400" y="4663440"/>
            <a:ext cx="6492240" cy="594360"/>
          </a:xfrm>
          <a:prstGeom prst="rect">
            <a:avLst/>
          </a:prstGeom>
          <a:noFill/>
        </p:spPr>
        <p:txBody>
          <a:bodyPr wrap="square" lIns="0" tIns="0" rIns="0" bIns="0">
            <a:spAutoFit/>
          </a:bodyPr>
          <a:lstStyle/>
          <a:p>
            <a:r>
              <a:rPr sz="950" b="1">
                <a:solidFill>
                  <a:srgbClr val="DC2626"/>
                </a:solidFill>
              </a:rPr>
              <a:t>• Model Overfitting / False Death Claims
</a:t>
            </a:r>
            <a:r>
              <a:rPr sz="950" b="1">
                <a:solidFill>
                  <a:srgbClr val="16A34A"/>
                </a:solidFill>
              </a:rPr>
              <a:t>   ➔  Bounded 0–100 Heat-Health Risk Index</a:t>
            </a:r>
          </a:p>
        </p:txBody>
      </p:sp>
      <p:sp>
        <p:nvSpPr>
          <p:cNvPr id="11" name="TextBox 10"/>
          <p:cNvSpPr txBox="1"/>
          <p:nvPr/>
        </p:nvSpPr>
        <p:spPr>
          <a:xfrm>
            <a:off x="914400" y="5349240"/>
            <a:ext cx="6492240" cy="594360"/>
          </a:xfrm>
          <a:prstGeom prst="rect">
            <a:avLst/>
          </a:prstGeom>
          <a:noFill/>
        </p:spPr>
        <p:txBody>
          <a:bodyPr wrap="square" lIns="0" tIns="0" rIns="0" bIns="0">
            <a:spAutoFit/>
          </a:bodyPr>
          <a:lstStyle/>
          <a:p>
            <a:r>
              <a:rPr sz="950" b="1">
                <a:solidFill>
                  <a:srgbClr val="DC2626"/>
                </a:solidFill>
              </a:rPr>
              <a:t>• False Alarm Fatigue (Single Spikes)
</a:t>
            </a:r>
            <a:r>
              <a:rPr sz="950" b="1">
                <a:solidFill>
                  <a:srgbClr val="16A34A"/>
                </a:solidFill>
              </a:rPr>
              <a:t>   ➔  Compound Multi-Day Persistence Penalty (Dmult)</a:t>
            </a:r>
          </a:p>
        </p:txBody>
      </p:sp>
      <p:sp>
        <p:nvSpPr>
          <p:cNvPr id="12" name="Rounded Rectangle 11"/>
          <p:cNvSpPr/>
          <p:nvPr/>
        </p:nvSpPr>
        <p:spPr>
          <a:xfrm>
            <a:off x="7772400" y="2743200"/>
            <a:ext cx="3687775" cy="3566160"/>
          </a:xfrm>
          <a:prstGeom prst="roundRect">
            <a:avLst/>
          </a:prstGeom>
          <a:solidFill>
            <a:srgbClr val="F8FAFC"/>
          </a:solidFill>
          <a:ln w="19050">
            <a:solidFill>
              <a:srgbClr val="0F2C5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C59"/>
                </a:solidFill>
              </a:defRPr>
            </a:pPr>
            <a:r>
              <a:t>Expected Customers &amp; Users:</a:t>
            </a:r>
          </a:p>
          <a:p>
            <a:pPr>
              <a:spcBef>
                <a:spcPts val="600"/>
              </a:spcBef>
              <a:defRPr sz="950" b="1">
                <a:solidFill>
                  <a:srgbClr val="0F2C59"/>
                </a:solidFill>
              </a:defRPr>
            </a:pPr>
            <a:r>
              <a:t>➢  Municipal Corporations &amp; Smart Cities</a:t>
            </a:r>
          </a:p>
          <a:p>
            <a:pPr>
              <a:defRPr sz="850">
                <a:solidFill>
                  <a:srgbClr val="475569"/>
                </a:solidFill>
              </a:defRPr>
            </a:pPr>
            <a:r>
              <a:t>    For ward-level water tankers, cool roofs &amp; cooling centers.</a:t>
            </a:r>
          </a:p>
          <a:p>
            <a:pPr>
              <a:spcBef>
                <a:spcPts val="600"/>
              </a:spcBef>
              <a:defRPr sz="950" b="1">
                <a:solidFill>
                  <a:srgbClr val="0F2C59"/>
                </a:solidFill>
              </a:defRPr>
            </a:pPr>
            <a:r>
              <a:t>➢  Health Departments &amp; Hospitals</a:t>
            </a:r>
          </a:p>
          <a:p>
            <a:pPr>
              <a:defRPr sz="850">
                <a:solidFill>
                  <a:srgbClr val="475569"/>
                </a:solidFill>
              </a:defRPr>
            </a:pPr>
            <a:r>
              <a:t>    For heatstroke emergency ward &amp; IV fluid prepositioning.</a:t>
            </a:r>
          </a:p>
          <a:p>
            <a:pPr>
              <a:spcBef>
                <a:spcPts val="600"/>
              </a:spcBef>
              <a:defRPr sz="950" b="1">
                <a:solidFill>
                  <a:srgbClr val="0F2C59"/>
                </a:solidFill>
              </a:defRPr>
            </a:pPr>
            <a:r>
              <a:t>➢  State Disaster Management (SDMA / NDMA)</a:t>
            </a:r>
          </a:p>
          <a:p>
            <a:pPr>
              <a:defRPr sz="850">
                <a:solidFill>
                  <a:srgbClr val="475569"/>
                </a:solidFill>
              </a:defRPr>
            </a:pPr>
            <a:r>
              <a:t>    For automated Heat Action Plan (HAP) trigger activation.</a:t>
            </a:r>
          </a:p>
          <a:p>
            <a:pPr>
              <a:spcBef>
                <a:spcPts val="600"/>
              </a:spcBef>
              <a:defRPr sz="950" b="1">
                <a:solidFill>
                  <a:srgbClr val="0F2C59"/>
                </a:solidFill>
              </a:defRPr>
            </a:pPr>
            <a:r>
              <a:t>➢  Gig Platforms &amp; Construction Sector</a:t>
            </a:r>
          </a:p>
          <a:p>
            <a:pPr>
              <a:defRPr sz="850">
                <a:solidFill>
                  <a:srgbClr val="475569"/>
                </a:solidFill>
              </a:defRPr>
            </a:pPr>
            <a:r>
              <a:t>    For mandatory NIOSH labor halt (11 AM–4 PM) compliance.</a:t>
            </a:r>
          </a:p>
        </p:txBody>
      </p:sp>
      <p:sp>
        <p:nvSpPr>
          <p:cNvPr id="13" name="Rectangle 12"/>
          <p:cNvSpPr/>
          <p:nvPr/>
        </p:nvSpPr>
        <p:spPr>
          <a:xfrm>
            <a:off x="0" y="6446520"/>
            <a:ext cx="12191695" cy="41148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510528"/>
            <a:ext cx="10728655" cy="320040"/>
          </a:xfrm>
          <a:prstGeom prst="rect">
            <a:avLst/>
          </a:prstGeom>
          <a:noFill/>
        </p:spPr>
        <p:txBody>
          <a:bodyPr wrap="none" lIns="0" tIns="0" rIns="0" bIns="0">
            <a:spAutoFit/>
          </a:bodyPr>
          <a:lstStyle/>
          <a:p>
            <a:pPr algn="ctr">
              <a:defRPr sz="1000">
                <a:solidFill>
                  <a:srgbClr val="FFFFFF"/>
                </a:solidFill>
                <a:latin typeface="Arial"/>
              </a:defRPr>
            </a:pPr>
            <a:r>
              <a:t>@SIH Idea submission- Template</a:t>
            </a:r>
          </a:p>
        </p:txBody>
      </p:sp>
      <p:sp>
        <p:nvSpPr>
          <p:cNvPr id="15" name="TextBox 14"/>
          <p:cNvSpPr txBox="1"/>
          <p:nvPr/>
        </p:nvSpPr>
        <p:spPr>
          <a:xfrm>
            <a:off x="11155680" y="6510528"/>
            <a:ext cx="731520" cy="320040"/>
          </a:xfrm>
          <a:prstGeom prst="rect">
            <a:avLst/>
          </a:prstGeom>
          <a:noFill/>
        </p:spPr>
        <p:txBody>
          <a:bodyPr wrap="none">
            <a:spAutoFit/>
          </a:bodyPr>
          <a:lstStyle/>
          <a:p>
            <a:pPr algn="r">
              <a:defRPr sz="1100" b="1">
                <a:solidFill>
                  <a:srgbClr val="FFFFFF"/>
                </a:solidFill>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548640" y="228600"/>
            <a:ext cx="2011680" cy="502920"/>
          </a:xfrm>
          <a:prstGeom prst="roundRect">
            <a:avLst/>
          </a:prstGeom>
          <a:solidFill>
            <a:srgbClr val="F3E8FF"/>
          </a:solidFill>
          <a:ln w="1905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6D28D9"/>
                </a:solidFill>
              </a:defRPr>
            </a:pPr>
            <a:r>
              <a:t>ThermoShield</a:t>
            </a:r>
          </a:p>
        </p:txBody>
      </p:sp>
      <p:sp>
        <p:nvSpPr>
          <p:cNvPr id="3" name="TextBox 2"/>
          <p:cNvSpPr txBox="1"/>
          <p:nvPr/>
        </p:nvSpPr>
        <p:spPr>
          <a:xfrm>
            <a:off x="2743200" y="182880"/>
            <a:ext cx="6705295" cy="594360"/>
          </a:xfrm>
          <a:prstGeom prst="rect">
            <a:avLst/>
          </a:prstGeom>
          <a:noFill/>
        </p:spPr>
        <p:txBody>
          <a:bodyPr wrap="square" lIns="0" tIns="0" rIns="0" bIns="0">
            <a:spAutoFit/>
          </a:bodyPr>
          <a:lstStyle/>
          <a:p>
            <a:pPr algn="ctr">
              <a:defRPr sz="1800" b="1">
                <a:solidFill>
                  <a:srgbClr val="0F172A"/>
                </a:solidFill>
                <a:latin typeface="Georgia"/>
              </a:defRPr>
            </a:pPr>
            <a:r>
              <a:t>IMPACT AND BENEFITS</a:t>
            </a:r>
          </a:p>
        </p:txBody>
      </p:sp>
      <p:sp>
        <p:nvSpPr>
          <p:cNvPr id="4" name="Rounded Rectangle 3"/>
          <p:cNvSpPr/>
          <p:nvPr/>
        </p:nvSpPr>
        <p:spPr>
          <a:xfrm>
            <a:off x="9601200" y="182880"/>
            <a:ext cx="2011680" cy="594360"/>
          </a:xfrm>
          <a:prstGeom prst="roundRect">
            <a:avLst/>
          </a:prstGeom>
          <a:solidFill>
            <a:srgbClr val="FEF3C7"/>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F2C59"/>
                </a:solidFill>
              </a:defRPr>
            </a:pPr>
            <a:r>
              <a:t>SMART INDIA</a:t>
            </a:r>
          </a:p>
          <a:p>
            <a:pPr algn="ctr">
              <a:defRPr sz="950" b="1">
                <a:solidFill>
                  <a:srgbClr val="EA580C"/>
                </a:solidFill>
              </a:defRPr>
            </a:pPr>
            <a:r>
              <a:t>HACKATHON 2026</a:t>
            </a:r>
          </a:p>
        </p:txBody>
      </p:sp>
      <p:sp>
        <p:nvSpPr>
          <p:cNvPr id="5" name="TextBox 4"/>
          <p:cNvSpPr txBox="1"/>
          <p:nvPr/>
        </p:nvSpPr>
        <p:spPr>
          <a:xfrm>
            <a:off x="731520" y="1005840"/>
            <a:ext cx="10728655" cy="731520"/>
          </a:xfrm>
          <a:prstGeom prst="rect">
            <a:avLst/>
          </a:prstGeom>
          <a:noFill/>
        </p:spPr>
        <p:txBody>
          <a:bodyPr wrap="square" lIns="0" tIns="0" rIns="0" bIns="0">
            <a:spAutoFit/>
          </a:bodyPr>
          <a:lstStyle/>
          <a:p>
            <a:pPr>
              <a:defRPr sz="1000" b="1">
                <a:solidFill>
                  <a:srgbClr val="0F2C59"/>
                </a:solidFill>
              </a:defRPr>
            </a:pPr>
            <a:r>
              <a:t>Target Audience — Municipal Commissioners, Chief Medical Officers, Disaster Response Teams (NDMA/SDRF), Gig Workers, Construction Laborers, Urban Slum Residents, General Public.</a:t>
            </a:r>
          </a:p>
          <a:p>
            <a:pPr>
              <a:spcBef>
                <a:spcPts val="200"/>
              </a:spcBef>
              <a:defRPr sz="900">
                <a:solidFill>
                  <a:srgbClr val="475569"/>
                </a:solidFill>
              </a:defRPr>
            </a:pPr>
            <a:r>
              <a:t>(All above stakeholders receive tailored biometeorological intelligence and automated sector-specific action protocols.)</a:t>
            </a:r>
          </a:p>
        </p:txBody>
      </p:sp>
      <p:sp>
        <p:nvSpPr>
          <p:cNvPr id="6" name="Rounded Rectangle 5"/>
          <p:cNvSpPr/>
          <p:nvPr/>
        </p:nvSpPr>
        <p:spPr>
          <a:xfrm>
            <a:off x="731520" y="1737360"/>
            <a:ext cx="10728655" cy="1188720"/>
          </a:xfrm>
          <a:prstGeom prst="roundRect">
            <a:avLst/>
          </a:prstGeom>
          <a:solidFill>
            <a:srgbClr val="F0F9FF"/>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0F2C59"/>
                </a:solidFill>
              </a:defRPr>
            </a:pPr>
            <a:r>
              <a:t>72h–120h (3–5 DAY) PRE-EMPTIVE HEAT ACTION TIMELINE:</a:t>
            </a:r>
          </a:p>
          <a:p>
            <a:pPr>
              <a:spcBef>
                <a:spcPts val="200"/>
              </a:spcBef>
              <a:defRPr sz="850">
                <a:solidFill>
                  <a:srgbClr val="0F172A"/>
                </a:solidFill>
              </a:defRPr>
            </a:pPr>
            <a:r>
              <a:t>• 120h (D-5): NWP model flags thermal moisture surge → Early municipal advisory issued</a:t>
            </a:r>
            <a:br/>
            <a:r>
              <a:t>• 72h (D-3): Cumulative heat persistence detected → Water tankers and mobile misting units dispatched to high-risk slums</a:t>
            </a:r>
            <a:br/>
            <a:r>
              <a:t>• 48h (D-2): Hospital surge beds &amp; ice-bath cooling centers staged; DISCOMs alerted for grid peak load</a:t>
            </a:r>
            <a:br/>
            <a:r>
              <a:t>• 24h (D-1): Mandatory NIOSH labor halts mandated for construction &amp; delivery workers during peak hours (11 AM–4 PM)</a:t>
            </a:r>
          </a:p>
        </p:txBody>
      </p:sp>
      <p:sp>
        <p:nvSpPr>
          <p:cNvPr id="7" name="Rounded Rectangle 6"/>
          <p:cNvSpPr/>
          <p:nvPr/>
        </p:nvSpPr>
        <p:spPr>
          <a:xfrm>
            <a:off x="731520" y="3063240"/>
            <a:ext cx="3429000" cy="32461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100" b="1">
                <a:solidFill>
                  <a:srgbClr val="0284C7"/>
                </a:solidFill>
              </a:defRPr>
            </a:pPr>
            <a:r>
              <a:t>● Social Benefits:</a:t>
            </a:r>
          </a:p>
          <a:p>
            <a:pPr>
              <a:spcBef>
                <a:spcPts val="400"/>
              </a:spcBef>
              <a:defRPr sz="900" b="1">
                <a:solidFill>
                  <a:srgbClr val="0F2C59"/>
                </a:solidFill>
              </a:defRPr>
            </a:pPr>
            <a:r>
              <a:t>▪  Protects Vulnerable Citizens: </a:t>
            </a:r>
            <a:r>
              <a:rPr b="0">
                <a:solidFill>
                  <a:srgbClr val="0F172A"/>
                </a:solidFill>
              </a:rPr>
              <a:t>Dramatically reduces heatstroke morbidity among elderly and children.</a:t>
            </a:r>
          </a:p>
          <a:p>
            <a:pPr>
              <a:spcBef>
                <a:spcPts val="400"/>
              </a:spcBef>
              <a:defRPr sz="900" b="1">
                <a:solidFill>
                  <a:srgbClr val="0F2C59"/>
                </a:solidFill>
              </a:defRPr>
            </a:pPr>
            <a:r>
              <a:t>▪  Protects Informal Laborers: </a:t>
            </a:r>
            <a:r>
              <a:rPr b="0">
                <a:solidFill>
                  <a:srgbClr val="0F172A"/>
                </a:solidFill>
              </a:rPr>
              <a:t>Enforces humane work-rest cycles for delivery and construction workers.</a:t>
            </a:r>
          </a:p>
          <a:p>
            <a:pPr>
              <a:spcBef>
                <a:spcPts val="400"/>
              </a:spcBef>
              <a:defRPr sz="900" b="1">
                <a:solidFill>
                  <a:srgbClr val="0F2C59"/>
                </a:solidFill>
              </a:defRPr>
            </a:pPr>
            <a:r>
              <a:t>▪  Bilingual Public Alerts: </a:t>
            </a:r>
            <a:r>
              <a:rPr b="0">
                <a:solidFill>
                  <a:srgbClr val="0F172A"/>
                </a:solidFill>
              </a:rPr>
              <a:t>Delivers plain-language vernacular guidance via SMS/WhatsApp.</a:t>
            </a:r>
          </a:p>
        </p:txBody>
      </p:sp>
      <p:sp>
        <p:nvSpPr>
          <p:cNvPr id="8" name="Rounded Rectangle 7"/>
          <p:cNvSpPr/>
          <p:nvPr/>
        </p:nvSpPr>
        <p:spPr>
          <a:xfrm>
            <a:off x="4379976" y="3063240"/>
            <a:ext cx="3429000" cy="324612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100" b="1">
                <a:solidFill>
                  <a:srgbClr val="16A34A"/>
                </a:solidFill>
              </a:defRPr>
            </a:pPr>
            <a:r>
              <a:t>● Economical Benefits:</a:t>
            </a:r>
          </a:p>
          <a:p>
            <a:pPr>
              <a:spcBef>
                <a:spcPts val="400"/>
              </a:spcBef>
              <a:defRPr sz="900" b="1">
                <a:solidFill>
                  <a:srgbClr val="0F2C59"/>
                </a:solidFill>
              </a:defRPr>
            </a:pPr>
            <a:r>
              <a:t>▪  Prevents Productivity Loss: </a:t>
            </a:r>
            <a:r>
              <a:rPr b="0">
                <a:solidFill>
                  <a:srgbClr val="0F172A"/>
                </a:solidFill>
              </a:rPr>
              <a:t>Reduces lost work hours through scheduled morning/evening shifts.</a:t>
            </a:r>
          </a:p>
          <a:p>
            <a:pPr>
              <a:spcBef>
                <a:spcPts val="400"/>
              </a:spcBef>
              <a:defRPr sz="900" b="1">
                <a:solidFill>
                  <a:srgbClr val="0F2C59"/>
                </a:solidFill>
              </a:defRPr>
            </a:pPr>
            <a:r>
              <a:t>▪  Optimized Resource Routing: </a:t>
            </a:r>
            <a:r>
              <a:rPr b="0">
                <a:solidFill>
                  <a:srgbClr val="0F172A"/>
                </a:solidFill>
              </a:rPr>
              <a:t>Avoids wasteful blanket relief by targeting high-vulnerability wards.</a:t>
            </a:r>
          </a:p>
          <a:p>
            <a:pPr>
              <a:spcBef>
                <a:spcPts val="400"/>
              </a:spcBef>
              <a:defRPr sz="900" b="1">
                <a:solidFill>
                  <a:srgbClr val="0F2C59"/>
                </a:solidFill>
              </a:defRPr>
            </a:pPr>
            <a:r>
              <a:t>▪  Reduces Emergency Care Costs: </a:t>
            </a:r>
            <a:r>
              <a:rPr b="0">
                <a:solidFill>
                  <a:srgbClr val="0F172A"/>
                </a:solidFill>
              </a:rPr>
              <a:t>Pre-empts severe multi-organ failure and ICU admissions.</a:t>
            </a:r>
          </a:p>
        </p:txBody>
      </p:sp>
      <p:sp>
        <p:nvSpPr>
          <p:cNvPr id="9" name="Rounded Rectangle 8"/>
          <p:cNvSpPr/>
          <p:nvPr/>
        </p:nvSpPr>
        <p:spPr>
          <a:xfrm>
            <a:off x="8028432" y="3063240"/>
            <a:ext cx="3429000" cy="3246120"/>
          </a:xfrm>
          <a:prstGeom prst="roundRect">
            <a:avLst/>
          </a:prstGeom>
          <a:solidFill>
            <a:srgbClr val="FFFFFF"/>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100" b="1">
                <a:solidFill>
                  <a:srgbClr val="EA580C"/>
                </a:solidFill>
              </a:defRPr>
            </a:pPr>
            <a:r>
              <a:t>● Environmental &amp; Urban Benefits:</a:t>
            </a:r>
          </a:p>
          <a:p>
            <a:pPr>
              <a:spcBef>
                <a:spcPts val="400"/>
              </a:spcBef>
              <a:defRPr sz="900" b="1">
                <a:solidFill>
                  <a:srgbClr val="0F2C59"/>
                </a:solidFill>
              </a:defRPr>
            </a:pPr>
            <a:r>
              <a:t>▪  Urban Heat Island (UHI) Mapping: </a:t>
            </a:r>
            <a:r>
              <a:rPr b="0">
                <a:solidFill>
                  <a:srgbClr val="0F172A"/>
                </a:solidFill>
              </a:rPr>
              <a:t>Identifies micro-urban hot spots and green canopy deficits.</a:t>
            </a:r>
          </a:p>
          <a:p>
            <a:pPr>
              <a:spcBef>
                <a:spcPts val="400"/>
              </a:spcBef>
              <a:defRPr sz="900" b="1">
                <a:solidFill>
                  <a:srgbClr val="0F2C59"/>
                </a:solidFill>
              </a:defRPr>
            </a:pPr>
            <a:r>
              <a:t>▪  Sustainable Urban Planning: </a:t>
            </a:r>
            <a:r>
              <a:rPr b="0">
                <a:solidFill>
                  <a:srgbClr val="0F172A"/>
                </a:solidFill>
              </a:rPr>
              <a:t>Guides long-term cool roof installations and tree canopy targets.</a:t>
            </a:r>
          </a:p>
          <a:p>
            <a:pPr>
              <a:spcBef>
                <a:spcPts val="400"/>
              </a:spcBef>
              <a:defRPr sz="900" b="1">
                <a:solidFill>
                  <a:srgbClr val="0F2C59"/>
                </a:solidFill>
              </a:defRPr>
            </a:pPr>
            <a:r>
              <a:t>▪  Effective Climate Resilience: </a:t>
            </a:r>
            <a:r>
              <a:rPr b="0">
                <a:solidFill>
                  <a:srgbClr val="0F172A"/>
                </a:solidFill>
              </a:rPr>
              <a:t>Operationalizes national disaster mitigation at municipal ward scale.</a:t>
            </a:r>
          </a:p>
        </p:txBody>
      </p:sp>
      <p:sp>
        <p:nvSpPr>
          <p:cNvPr id="10" name="Rectangle 9"/>
          <p:cNvSpPr/>
          <p:nvPr/>
        </p:nvSpPr>
        <p:spPr>
          <a:xfrm>
            <a:off x="0" y="6446520"/>
            <a:ext cx="12191695" cy="41148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510528"/>
            <a:ext cx="10728655" cy="320040"/>
          </a:xfrm>
          <a:prstGeom prst="rect">
            <a:avLst/>
          </a:prstGeom>
          <a:noFill/>
        </p:spPr>
        <p:txBody>
          <a:bodyPr wrap="none" lIns="0" tIns="0" rIns="0" bIns="0">
            <a:spAutoFit/>
          </a:bodyPr>
          <a:lstStyle/>
          <a:p>
            <a:pPr algn="ctr">
              <a:defRPr sz="1000">
                <a:solidFill>
                  <a:srgbClr val="FFFFFF"/>
                </a:solidFill>
                <a:latin typeface="Arial"/>
              </a:defRPr>
            </a:pPr>
            <a:r>
              <a:t>@SIH Idea submission- Template</a:t>
            </a:r>
          </a:p>
        </p:txBody>
      </p:sp>
      <p:sp>
        <p:nvSpPr>
          <p:cNvPr id="12" name="TextBox 11"/>
          <p:cNvSpPr txBox="1"/>
          <p:nvPr/>
        </p:nvSpPr>
        <p:spPr>
          <a:xfrm>
            <a:off x="11155680" y="6510528"/>
            <a:ext cx="731520" cy="320040"/>
          </a:xfrm>
          <a:prstGeom prst="rect">
            <a:avLst/>
          </a:prstGeom>
          <a:noFill/>
        </p:spPr>
        <p:txBody>
          <a:bodyPr wrap="none">
            <a:spAutoFit/>
          </a:bodyPr>
          <a:lstStyle/>
          <a:p>
            <a:pPr algn="r">
              <a:defRPr sz="1100" b="1">
                <a:solidFill>
                  <a:srgbClr val="FFFFFF"/>
                </a:solidFill>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548640" y="228600"/>
            <a:ext cx="2011680" cy="502920"/>
          </a:xfrm>
          <a:prstGeom prst="roundRect">
            <a:avLst/>
          </a:prstGeom>
          <a:solidFill>
            <a:srgbClr val="F3E8FF"/>
          </a:solidFill>
          <a:ln w="19050">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100" b="1">
                <a:solidFill>
                  <a:srgbClr val="6D28D9"/>
                </a:solidFill>
              </a:defRPr>
            </a:pPr>
            <a:r>
              <a:t>ThermoShield</a:t>
            </a:r>
          </a:p>
        </p:txBody>
      </p:sp>
      <p:sp>
        <p:nvSpPr>
          <p:cNvPr id="3" name="TextBox 2"/>
          <p:cNvSpPr txBox="1"/>
          <p:nvPr/>
        </p:nvSpPr>
        <p:spPr>
          <a:xfrm>
            <a:off x="2743200" y="182880"/>
            <a:ext cx="6705295" cy="594360"/>
          </a:xfrm>
          <a:prstGeom prst="rect">
            <a:avLst/>
          </a:prstGeom>
          <a:noFill/>
        </p:spPr>
        <p:txBody>
          <a:bodyPr wrap="square" lIns="0" tIns="0" rIns="0" bIns="0">
            <a:spAutoFit/>
          </a:bodyPr>
          <a:lstStyle/>
          <a:p>
            <a:pPr algn="ctr">
              <a:defRPr sz="1800" b="1">
                <a:solidFill>
                  <a:srgbClr val="0F172A"/>
                </a:solidFill>
                <a:latin typeface="Georgia"/>
              </a:defRPr>
            </a:pPr>
            <a:r>
              <a:t>RESEARCH AND REFERENCES</a:t>
            </a:r>
          </a:p>
        </p:txBody>
      </p:sp>
      <p:sp>
        <p:nvSpPr>
          <p:cNvPr id="4" name="Rounded Rectangle 3"/>
          <p:cNvSpPr/>
          <p:nvPr/>
        </p:nvSpPr>
        <p:spPr>
          <a:xfrm>
            <a:off x="9601200" y="182880"/>
            <a:ext cx="2011680" cy="594360"/>
          </a:xfrm>
          <a:prstGeom prst="roundRect">
            <a:avLst/>
          </a:prstGeom>
          <a:solidFill>
            <a:srgbClr val="FEF3C7"/>
          </a:solidFill>
          <a:ln w="1905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F2C59"/>
                </a:solidFill>
              </a:defRPr>
            </a:pPr>
            <a:r>
              <a:t>SMART INDIA</a:t>
            </a:r>
          </a:p>
          <a:p>
            <a:pPr algn="ctr">
              <a:defRPr sz="950" b="1">
                <a:solidFill>
                  <a:srgbClr val="EA580C"/>
                </a:solidFill>
              </a:defRPr>
            </a:pPr>
            <a:r>
              <a:t>HACKATHON 2026</a:t>
            </a:r>
          </a:p>
        </p:txBody>
      </p:sp>
      <p:sp>
        <p:nvSpPr>
          <p:cNvPr id="5" name="TextBox 4"/>
          <p:cNvSpPr txBox="1"/>
          <p:nvPr/>
        </p:nvSpPr>
        <p:spPr>
          <a:xfrm>
            <a:off x="731520" y="1051560"/>
            <a:ext cx="10728655" cy="5212080"/>
          </a:xfrm>
          <a:prstGeom prst="rect">
            <a:avLst/>
          </a:prstGeom>
          <a:noFill/>
        </p:spPr>
        <p:txBody>
          <a:bodyPr wrap="square" lIns="0" tIns="0" rIns="0" bIns="0">
            <a:spAutoFit/>
          </a:bodyPr>
          <a:lstStyle/>
          <a:p>
            <a:pPr>
              <a:spcBef>
                <a:spcPts val="400"/>
              </a:spcBef>
              <a:defRPr sz="950" b="1">
                <a:solidFill>
                  <a:srgbClr val="0F2C59"/>
                </a:solidFill>
              </a:defRPr>
            </a:pPr>
            <a:r>
              <a:t>●  Universal Thermal Climate Index (UTCI) Consortium (WMO / COST Action 730): </a:t>
            </a:r>
            <a:r>
              <a:rPr b="0">
                <a:solidFill>
                  <a:srgbClr val="0F172A"/>
                </a:solidFill>
              </a:rPr>
              <a:t>"Development of the Universal Thermal Climate Index (UTCI)", Bröde, Fiala, Błażejczyk et al., Int J Biometeorol (2012). Multi-node thermophysiological polynomial.</a:t>
            </a:r>
          </a:p>
          <a:p>
            <a:pPr>
              <a:spcBef>
                <a:spcPts val="400"/>
              </a:spcBef>
              <a:defRPr sz="950" b="1">
                <a:solidFill>
                  <a:srgbClr val="0F2C59"/>
                </a:solidFill>
              </a:defRPr>
            </a:pPr>
            <a:r>
              <a:t>●  Occupational Heat Stress Standards (ISO 7243:2017 &amp; NIOSH): </a:t>
            </a:r>
            <a:r>
              <a:rPr b="0">
                <a:solidFill>
                  <a:srgbClr val="0F172A"/>
                </a:solidFill>
              </a:rPr>
              <a:t>"Criteria for a Recommended Standard: Occupational Exposure to Heat and Hot Environments", CDC / NIOSH Publication No. 2016-106. Standard for WBGT thresholds &amp; work-rest cycles.</a:t>
            </a:r>
          </a:p>
          <a:p>
            <a:pPr>
              <a:spcBef>
                <a:spcPts val="400"/>
              </a:spcBef>
              <a:defRPr sz="950" b="1">
                <a:solidFill>
                  <a:srgbClr val="0F2C59"/>
                </a:solidFill>
              </a:defRPr>
            </a:pPr>
            <a:r>
              <a:t>●  Epidemiological Heat-Health Grounding in Indian Cities (Ahmedabad 2010): </a:t>
            </a:r>
            <a:r>
              <a:rPr b="0">
                <a:solidFill>
                  <a:srgbClr val="0F172A"/>
                </a:solidFill>
              </a:rPr>
              <a:t>"The 2010 Ahmedabad Heat Wave: Impact on Mortality and Strategy for Resilient Cities", Azhar et al., PLoS ONE (2014). Documented 1,344 excess deaths (43.1% surge) validating humidity-heat risk.</a:t>
            </a:r>
          </a:p>
          <a:p>
            <a:pPr>
              <a:spcBef>
                <a:spcPts val="400"/>
              </a:spcBef>
              <a:defRPr sz="950" b="1">
                <a:solidFill>
                  <a:srgbClr val="0F2C59"/>
                </a:solidFill>
              </a:defRPr>
            </a:pPr>
            <a:r>
              <a:t>●  50-Year Multi-Decadal Heat Impact in India (PNAS Reference): </a:t>
            </a:r>
            <a:r>
              <a:rPr b="0">
                <a:solidFill>
                  <a:srgbClr val="0F172A"/>
                </a:solidFill>
              </a:rPr>
              <a:t>"Increasing probability of mass-fatality heatwaves in India", Mazdiyasni et al., Proceedings of the National Academy of Sciences (PNAS, 2017). Proving +0.5°C threshold triggers 146% rise in mass mortality events.</a:t>
            </a:r>
          </a:p>
          <a:p>
            <a:pPr>
              <a:spcBef>
                <a:spcPts val="400"/>
              </a:spcBef>
              <a:defRPr sz="950" b="1">
                <a:solidFill>
                  <a:srgbClr val="0F2C59"/>
                </a:solidFill>
              </a:defRPr>
            </a:pPr>
            <a:r>
              <a:t>●  National Disaster &amp; Health Policy Guidelines (NDMA &amp; MoHFW NCDC): </a:t>
            </a:r>
            <a:r>
              <a:rPr b="0">
                <a:solidFill>
                  <a:srgbClr val="0F172A"/>
                </a:solidFill>
              </a:rPr>
              <a:t>"National Action Plan for Heat-Related Illnesses (NAP-HRI)", National Programme on Climate Change and Human Health (NPCCHH, 2024) &amp; NDMA National Heatwave Guidelines.</a:t>
            </a:r>
          </a:p>
          <a:p>
            <a:pPr>
              <a:spcBef>
                <a:spcPts val="400"/>
              </a:spcBef>
              <a:defRPr sz="950" b="1">
                <a:solidFill>
                  <a:srgbClr val="0F2C59"/>
                </a:solidFill>
              </a:defRPr>
            </a:pPr>
            <a:r>
              <a:t>●  NWP &amp; Satellite Climatology Portals: </a:t>
            </a:r>
            <a:r>
              <a:rPr b="0">
                <a:solidFill>
                  <a:srgbClr val="0F172A"/>
                </a:solidFill>
              </a:rPr>
              <a:t>National Centre for Medium Range Weather Forecasting (NCMRWF) NWP Portal, IMD Geospatial Bulletins &amp; NASA POWER MERRA-2 (LaRC) 40-Year Climatological Baseline.</a:t>
            </a:r>
          </a:p>
          <a:p>
            <a:pPr>
              <a:spcBef>
                <a:spcPts val="400"/>
              </a:spcBef>
              <a:defRPr sz="950" b="1">
                <a:solidFill>
                  <a:srgbClr val="0F2C59"/>
                </a:solidFill>
              </a:defRPr>
            </a:pPr>
            <a:r>
              <a:t>●  Demographic Spatial Vulnerability: </a:t>
            </a:r>
            <a:r>
              <a:rPr b="0">
                <a:solidFill>
                  <a:srgbClr val="0F172A"/>
                </a:solidFill>
              </a:rPr>
              <a:t>Census of India 2011 Primary Census Abstract (PCA) Ward Demographics &amp; Open-Meteo High-Resolution Numerical Weather Prediction API.</a:t>
            </a:r>
          </a:p>
          <a:p>
            <a:pPr>
              <a:spcBef>
                <a:spcPts val="400"/>
              </a:spcBef>
              <a:defRPr sz="950" b="1">
                <a:solidFill>
                  <a:srgbClr val="0F2C59"/>
                </a:solidFill>
              </a:defRPr>
            </a:pPr>
            <a:r>
              <a:t>●  Research Gap Addressed: </a:t>
            </a:r>
            <a:r>
              <a:rPr b="0">
                <a:solidFill>
                  <a:srgbClr val="0F172A"/>
                </a:solidFill>
              </a:rPr>
              <a:t>Bridges the operational gap between macro-scale meteorological forecasts and actionable, localized public health interventions by providing an automated impact-to-action intelligence OS.</a:t>
            </a:r>
          </a:p>
        </p:txBody>
      </p:sp>
      <p:sp>
        <p:nvSpPr>
          <p:cNvPr id="6" name="Rectangle 5"/>
          <p:cNvSpPr/>
          <p:nvPr/>
        </p:nvSpPr>
        <p:spPr>
          <a:xfrm>
            <a:off x="0" y="6446520"/>
            <a:ext cx="12191695" cy="411480"/>
          </a:xfrm>
          <a:prstGeom prst="rect">
            <a:avLst/>
          </a:prstGeom>
          <a:solidFill>
            <a:srgbClr val="0F2C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510528"/>
            <a:ext cx="10728655" cy="320040"/>
          </a:xfrm>
          <a:prstGeom prst="rect">
            <a:avLst/>
          </a:prstGeom>
          <a:noFill/>
        </p:spPr>
        <p:txBody>
          <a:bodyPr wrap="none" lIns="0" tIns="0" rIns="0" bIns="0">
            <a:spAutoFit/>
          </a:bodyPr>
          <a:lstStyle/>
          <a:p>
            <a:pPr algn="ctr">
              <a:defRPr sz="1000">
                <a:solidFill>
                  <a:srgbClr val="FFFFFF"/>
                </a:solidFill>
                <a:latin typeface="Arial"/>
              </a:defRPr>
            </a:pPr>
            <a:r>
              <a:t>@SIH Idea submission- Template</a:t>
            </a:r>
          </a:p>
        </p:txBody>
      </p:sp>
      <p:sp>
        <p:nvSpPr>
          <p:cNvPr id="8" name="TextBox 7"/>
          <p:cNvSpPr txBox="1"/>
          <p:nvPr/>
        </p:nvSpPr>
        <p:spPr>
          <a:xfrm>
            <a:off x="11155680" y="6510528"/>
            <a:ext cx="731520" cy="320040"/>
          </a:xfrm>
          <a:prstGeom prst="rect">
            <a:avLst/>
          </a:prstGeom>
          <a:noFill/>
        </p:spPr>
        <p:txBody>
          <a:bodyPr wrap="none">
            <a:spAutoFit/>
          </a:bodyPr>
          <a:lstStyle/>
          <a:p>
            <a:pPr algn="r">
              <a:defRPr sz="1100" b="1">
                <a:solidFill>
                  <a:srgbClr val="FFFFFF"/>
                </a:solidFill>
              </a:defRPr>
            </a:pPr>
            <a: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