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2C59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0" y="274320"/>
            <a:ext cx="2011680" cy="7315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C59"/>
                </a:solidFill>
              </a:defRPr>
            </a:pPr>
            <a:r>
              <a:t>SMART INDIA</a:t>
            </a:r>
          </a:p>
          <a:p>
            <a:pPr algn="ctr">
              <a:defRPr sz="1100" b="1">
                <a:solidFill>
                  <a:srgbClr val="EA580C"/>
                </a:solidFill>
              </a:defRPr>
            </a:pPr>
            <a:r>
              <a:t>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ThermoShield — AI-Driven Human Heat Risk &amp; Early Warning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6217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Problem Statement ID – </a:t>
            </a:r>
            <a:r>
              <a:rPr b="0" u="none">
                <a:solidFill>
                  <a:srgbClr val="0F2C59"/>
                </a:solidFill>
              </a:rPr>
              <a:t>SIH26083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Problem Statement Title – </a:t>
            </a:r>
            <a:r>
              <a:rPr b="0" u="none">
                <a:solidFill>
                  <a:srgbClr val="0F172A"/>
                </a:solidFill>
              </a:rPr>
              <a:t>Extreme Heatwave Early Warning and Human Thermal Stress Index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Theme – </a:t>
            </a:r>
            <a:r>
              <a:rPr b="0" u="none">
                <a:solidFill>
                  <a:srgbClr val="0F172A"/>
                </a:solidFill>
              </a:rPr>
              <a:t>Disaster Management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PS Category – </a:t>
            </a:r>
            <a:r>
              <a:rPr b="0" u="none">
                <a:solidFill>
                  <a:srgbClr val="0F172A"/>
                </a:solidFill>
              </a:rPr>
              <a:t>Software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Organization – </a:t>
            </a:r>
            <a:r>
              <a:rPr b="0" u="none">
                <a:solidFill>
                  <a:srgbClr val="0F172A"/>
                </a:solidFill>
              </a:rPr>
              <a:t>Ministry of Earth Sciences (MoES) / NCMRWF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Team ID – </a:t>
            </a:r>
            <a:r>
              <a:rPr b="0" u="none">
                <a:solidFill>
                  <a:srgbClr val="0F2C59"/>
                </a:solidFill>
              </a:rPr>
              <a:t>[YOUR REGISTERED TEAM ID]</a:t>
            </a:r>
          </a:p>
          <a:p>
            <a:pPr>
              <a:spcBef>
                <a:spcPts val="700"/>
              </a:spcBef>
              <a:defRPr sz="1150" b="1" u="sng">
                <a:solidFill>
                  <a:srgbClr val="0F172A"/>
                </a:solidFill>
                <a:latin typeface="Arial"/>
              </a:defRPr>
            </a:pPr>
            <a:r>
              <a:t>• Team Name – </a:t>
            </a:r>
            <a:r>
              <a:rPr b="0" u="none">
                <a:solidFill>
                  <a:srgbClr val="0F2C59"/>
                </a:solidFill>
              </a:rPr>
              <a:t>[YOUR REGISTERED TEAM NAME]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874519"/>
            <a:ext cx="4480560" cy="42976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2C59"/>
                </a:solidFill>
              </a:defRPr>
            </a:pPr>
            <a:r>
              <a:t>CORE SYSTEM CAPABILITIES</a:t>
            </a:r>
          </a:p>
          <a:p>
            <a:pPr>
              <a:spcBef>
                <a:spcPts val="600"/>
              </a:spcBef>
              <a:defRPr sz="1000" b="1">
                <a:solidFill>
                  <a:srgbClr val="0F2C59"/>
                </a:solidFill>
              </a:defRPr>
            </a:pPr>
            <a:r>
              <a:t>✓  From Weather to Health: </a:t>
            </a:r>
            <a:r>
              <a:rPr b="0">
                <a:solidFill>
                  <a:srgbClr val="0F172A"/>
                </a:solidFill>
              </a:rPr>
              <a:t>Translates raw atmospheric metrics into physiological human thermal stress.</a:t>
            </a:r>
          </a:p>
          <a:p>
            <a:pPr>
              <a:spcBef>
                <a:spcPts val="600"/>
              </a:spcBef>
              <a:defRPr sz="1000" b="1">
                <a:solidFill>
                  <a:srgbClr val="0F2C59"/>
                </a:solidFill>
              </a:defRPr>
            </a:pPr>
            <a:r>
              <a:t>✓  Multi-Metric Engine: </a:t>
            </a:r>
            <a:r>
              <a:rPr b="0">
                <a:solidFill>
                  <a:srgbClr val="0F172A"/>
                </a:solidFill>
              </a:rPr>
              <a:t>Universal Thermal Climate Index (UTCI) + ISO 7243 WBGT + NOAA Heat Index.</a:t>
            </a:r>
          </a:p>
          <a:p>
            <a:pPr>
              <a:spcBef>
                <a:spcPts val="600"/>
              </a:spcBef>
              <a:defRPr sz="1000" b="1">
                <a:solidFill>
                  <a:srgbClr val="0F2C59"/>
                </a:solidFill>
              </a:defRPr>
            </a:pPr>
            <a:r>
              <a:t>✓  Hyper-Local Ward GIS: </a:t>
            </a:r>
            <a:r>
              <a:rPr b="0">
                <a:solidFill>
                  <a:srgbClr val="0F172A"/>
                </a:solidFill>
              </a:rPr>
              <a:t>Census 2011 PCA demographic overlay (slums, elderly, gig workers).</a:t>
            </a:r>
          </a:p>
          <a:p>
            <a:pPr>
              <a:spcBef>
                <a:spcPts val="600"/>
              </a:spcBef>
              <a:defRPr sz="1000" b="1">
                <a:solidFill>
                  <a:srgbClr val="0F2C59"/>
                </a:solidFill>
              </a:defRPr>
            </a:pPr>
            <a:r>
              <a:t>✓  Automated Triggers: </a:t>
            </a:r>
            <a:r>
              <a:rPr b="0">
                <a:solidFill>
                  <a:srgbClr val="0F172A"/>
                </a:solidFill>
              </a:rPr>
              <a:t>Bilingual NDMA playbooks, hospital cooling surge alerts &amp; NIOSH labor halts.</a:t>
            </a:r>
          </a:p>
          <a:p>
            <a:pPr>
              <a:spcBef>
                <a:spcPts val="600"/>
              </a:spcBef>
              <a:defRPr sz="1000" b="1">
                <a:solidFill>
                  <a:srgbClr val="0F2C59"/>
                </a:solidFill>
              </a:defRPr>
            </a:pPr>
            <a:r>
              <a:t>✓  3–5 Day Lead Time: </a:t>
            </a:r>
            <a:r>
              <a:rPr b="0">
                <a:solidFill>
                  <a:srgbClr val="0F172A"/>
                </a:solidFill>
              </a:rPr>
              <a:t>Enables 72h–120h pre-emptive municipal water and emergency resource staging.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2011680" cy="5029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ThermoShield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0" y="164592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Georgia"/>
              </a:defRPr>
            </a:pPr>
            <a:r>
              <a:t>ThermoShield : AI-Driven Human Heat Risk &amp; Early Warning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37160"/>
            <a:ext cx="201168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2C59"/>
                </a:solidFill>
                <a:latin typeface="Arial"/>
              </a:defRPr>
            </a:pPr>
            <a:r>
              <a:t>SMART INDIA</a:t>
            </a:r>
          </a:p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34290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" y="1051560"/>
            <a:ext cx="3282696" cy="41148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C59"/>
                </a:solidFill>
              </a:defRPr>
            </a:pPr>
            <a:r>
              <a:t>1. Proposed 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154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2C59"/>
                </a:solidFill>
              </a:defRPr>
            </a:pPr>
            <a:r>
              <a:t>❖  Dual-Branch Ingestion: </a:t>
            </a:r>
            <a:r>
              <a:rPr b="0">
                <a:solidFill>
                  <a:srgbClr val="0F172A"/>
                </a:solidFill>
              </a:rPr>
              <a:t>Simultaneously processes 5-Day NWP forecasts (temperature, humidity, wind, radiation) and Census demographic vulnerability layers.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UTCI Physiological Engine: </a:t>
            </a:r>
            <a:r>
              <a:rPr b="0">
                <a:solidFill>
                  <a:srgbClr val="0F172A"/>
                </a:solidFill>
              </a:rPr>
              <a:t>6th-order polynomial based on Fiala 187-node human body model. Accurately calculates real sweat evaporation efficiency.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ISO 7243 WBGT: </a:t>
            </a:r>
            <a:r>
              <a:rPr b="0">
                <a:solidFill>
                  <a:srgbClr val="0F172A"/>
                </a:solidFill>
              </a:rPr>
              <a:t>Natural wet bulb (Stull) and globe temperature (Liljegren) for occupational and outdoor worker heat stress.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Multi-Day Persistence Penalty: </a:t>
            </a:r>
            <a:r>
              <a:rPr b="0">
                <a:solidFill>
                  <a:srgbClr val="0F172A"/>
                </a:solidFill>
              </a:rPr>
              <a:t>Applies exponential multiplier (Dmult) for prolonged heatwaves and uncooled night minimums (Tmin &gt; 28°C).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960120"/>
            <a:ext cx="34290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051560"/>
            <a:ext cx="3282696" cy="411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C59"/>
                </a:solidFill>
              </a:defRPr>
            </a:pPr>
            <a:r>
              <a:t>2. How It Addresses 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554480"/>
            <a:ext cx="3154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2C59"/>
                </a:solidFill>
              </a:defRPr>
            </a:pPr>
            <a:r>
              <a:t>❖  Weather vs Physiological Impact: </a:t>
            </a:r>
            <a:r>
              <a:rPr b="0">
                <a:solidFill>
                  <a:srgbClr val="0F172A"/>
                </a:solidFill>
              </a:rPr>
              <a:t>Overcomes the critical limitation of dry-bulb warnings where 40°C with high humidity turns lethal.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Hyper-Local Ward Stratification: </a:t>
            </a:r>
            <a:r>
              <a:rPr b="0">
                <a:solidFill>
                  <a:srgbClr val="0F172A"/>
                </a:solidFill>
              </a:rPr>
              <a:t>Differentiates shaded affluent residential zones from densely built informal settlements with tin roofs.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Epidemiological Grounding: </a:t>
            </a:r>
            <a:r>
              <a:rPr b="0">
                <a:solidFill>
                  <a:srgbClr val="0F172A"/>
                </a:solidFill>
              </a:rPr>
              <a:t>Risk scoring calibrated against peer-reviewed Indian empirical studies (Azhar et al. 2014 &amp; Mazdiyasni et al. 2017).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Automated Impact-to-Action: </a:t>
            </a:r>
            <a:r>
              <a:rPr b="0">
                <a:solidFill>
                  <a:srgbClr val="0F172A"/>
                </a:solidFill>
              </a:rPr>
              <a:t>Translates raw risk directly into automated NDMA advisories, hospital beds, and labor work-rest cycles.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960120"/>
            <a:ext cx="34290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01584" y="1051560"/>
            <a:ext cx="3282696" cy="411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C59"/>
                </a:solidFill>
              </a:defRPr>
            </a:pPr>
            <a:r>
              <a:t>3. Key Differentiators &amp;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1554480"/>
            <a:ext cx="3154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2C59"/>
                </a:solidFill>
              </a:defRPr>
            </a:pPr>
            <a:r>
              <a:t>❖  3–5 Day Pre-Emptive Window: </a:t>
            </a:r>
            <a:r>
              <a:rPr b="0">
                <a:solidFill>
                  <a:srgbClr val="0F172A"/>
                </a:solidFill>
              </a:rPr>
              <a:t>Provides 72h–120h lead time for municipal water tanker routing and cooling shelter deployment.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Sector-Specific Automation: </a:t>
            </a:r>
            <a:r>
              <a:rPr b="0">
                <a:solidFill>
                  <a:srgbClr val="0F172A"/>
                </a:solidFill>
              </a:rPr>
              <a:t>Delivers tailored feeds for gig delivery platforms (Zomato/Swiggy), construction, and DISCOMs.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Bilingual Vernacular Alerts: </a:t>
            </a:r>
            <a:r>
              <a:rPr b="0">
                <a:solidFill>
                  <a:srgbClr val="0F172A"/>
                </a:solidFill>
              </a:rPr>
              <a:t>Automated Hindi &amp; English public alerts sent via WhatsApp/Telegram to avoid technical jargon.</a:t>
            </a:r>
          </a:p>
          <a:p>
            <a:pPr>
              <a:spcBef>
                <a:spcPts val="400"/>
              </a:spcBef>
              <a:defRPr sz="950" b="1">
                <a:solidFill>
                  <a:srgbClr val="0F2C59"/>
                </a:solidFill>
              </a:defRPr>
            </a:pPr>
            <a:r>
              <a:t>❖  High-Performance Open Stack: </a:t>
            </a:r>
            <a:r>
              <a:rPr b="0">
                <a:solidFill>
                  <a:srgbClr val="0F172A"/>
                </a:solidFill>
              </a:rPr>
              <a:t>25 production REST API endpoints with sub-second response times and zero licensing fees.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897880"/>
            <a:ext cx="10728655" cy="4572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2C59"/>
                </a:solidFill>
              </a:defRPr>
            </a:pPr>
            <a:r>
              <a:t>KEY USP: Not another static heat map — an automated, end-to-end impact-to-action intelligence OS for heatwave resilience.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2011680" cy="5029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ThermoShield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0" y="164592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Georgia"/>
              </a:defRPr>
            </a:pPr>
            <a:r>
              <a:t>TECHNICAL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37160"/>
            <a:ext cx="201168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2C59"/>
                </a:solidFill>
                <a:latin typeface="Arial"/>
              </a:defRPr>
            </a:pPr>
            <a:r>
              <a:t>SMART INDIA</a:t>
            </a:r>
          </a:p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868680"/>
            <a:ext cx="7071055" cy="320040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2C59"/>
                </a:solidFill>
              </a:defRPr>
            </a:pPr>
            <a:r>
              <a:t>End-to-End Biometeorological &amp; Action Pipeline : Implementation Process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420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353312"/>
            <a:ext cx="2395728" cy="3657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1.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2322576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F2C59"/>
                </a:solidFill>
              </a:defRPr>
            </a:pPr>
            <a:r>
              <a:t>Open-Meteo 0.1° NWP 5-Day Forecasts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Hourly T, RH, Wind, Radiation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NASA POWER 40-Yr Normal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Census 2011 Ward PCA Data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Satellite LST / NDVI Surface Grid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5420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9584" y="1353312"/>
            <a:ext cx="2395728" cy="365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6A34A"/>
                </a:solidFill>
              </a:defRPr>
            </a:pPr>
            <a:r>
              <a:t>2. THERMAL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322576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F2C59"/>
                </a:solidFill>
              </a:defRPr>
            </a:pPr>
            <a:r>
              <a:t>UTCI 6th-Order Polynomial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Fiala 187-Node Human Model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ISO 7243 WBGT Psychrometrics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Stull Tw &amp; Liljegren Tg Models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Cumulative Multi-Day Dmult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280160"/>
            <a:ext cx="25420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353312"/>
            <a:ext cx="2395728" cy="365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3. AI &amp; HVI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783080"/>
            <a:ext cx="2322576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F2C59"/>
                </a:solidFill>
              </a:defRPr>
            </a:pPr>
            <a:r>
              <a:t>Census Demographic Vulnerability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Elderly Density &amp; Slum Ratio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Outdoor Labor Concentration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Tree Canopy Deficit Index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Relative Heat-Health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280160"/>
            <a:ext cx="25420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9408" y="1353312"/>
            <a:ext cx="2395728" cy="3657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F2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2C59"/>
                </a:solidFill>
              </a:defRPr>
            </a:pPr>
            <a:r>
              <a:t>4. ACTION &amp; GIS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1783080"/>
            <a:ext cx="2322576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F2C59"/>
                </a:solidFill>
              </a:defRPr>
            </a:pPr>
            <a:r>
              <a:t>Interactive Leaflet GIS Map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25 REST Production APIs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Automated NDMA Playbooks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Hospital Surge Bed Triggers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</a:defRPr>
            </a:pPr>
            <a:r>
              <a:t>• NIOSH Labor Halt Alerts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54880"/>
            <a:ext cx="10728655" cy="16002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C59"/>
                </a:solidFill>
              </a:defRPr>
            </a:pPr>
            <a:r>
              <a:t>Technologies to be used:</a:t>
            </a:r>
          </a:p>
          <a:p>
            <a:pPr>
              <a:spcBef>
                <a:spcPts val="200"/>
              </a:spcBef>
              <a:defRPr sz="900" b="1">
                <a:solidFill>
                  <a:srgbClr val="0F2C59"/>
                </a:solidFill>
              </a:defRPr>
            </a:pPr>
            <a:r>
              <a:t>• Backend &amp; REST APIs: </a:t>
            </a:r>
            <a:r>
              <a:rPr b="0">
                <a:solidFill>
                  <a:srgbClr val="0F172A"/>
                </a:solidFill>
              </a:rPr>
              <a:t>Python 3.11, FastAPI, Pydantic v2, Uvicorn, AsyncIO (25 REST endpoints)</a:t>
            </a:r>
          </a:p>
          <a:p>
            <a:pPr>
              <a:spcBef>
                <a:spcPts val="200"/>
              </a:spcBef>
              <a:defRPr sz="900" b="1">
                <a:solidFill>
                  <a:srgbClr val="0F2C59"/>
                </a:solidFill>
              </a:defRPr>
            </a:pPr>
            <a:r>
              <a:t>• Biometeorological &amp; GIS Engine: </a:t>
            </a:r>
            <a:r>
              <a:rPr b="0">
                <a:solidFill>
                  <a:srgbClr val="0F172A"/>
                </a:solidFill>
              </a:rPr>
              <a:t>NumPy, Pandas, GeoPandas, Shapely, Scipy (UTCI 6th-order polynomial &amp; psychrometrics)</a:t>
            </a:r>
          </a:p>
          <a:p>
            <a:pPr>
              <a:spcBef>
                <a:spcPts val="200"/>
              </a:spcBef>
              <a:defRPr sz="900" b="1">
                <a:solidFill>
                  <a:srgbClr val="0F2C59"/>
                </a:solidFill>
              </a:defRPr>
            </a:pPr>
            <a:r>
              <a:t>• Web GIS &amp; Visualization: </a:t>
            </a:r>
            <a:r>
              <a:rPr b="0">
                <a:solidFill>
                  <a:srgbClr val="0F172A"/>
                </a:solidFill>
              </a:rPr>
              <a:t>Leaflet.js (Choropleth GIS), Chart.js (5-Day Trend Curves), HTML5/CSS3 Responsive UI</a:t>
            </a:r>
          </a:p>
          <a:p>
            <a:pPr>
              <a:spcBef>
                <a:spcPts val="200"/>
              </a:spcBef>
              <a:defRPr sz="900" b="1">
                <a:solidFill>
                  <a:srgbClr val="0F2C59"/>
                </a:solidFill>
              </a:defRPr>
            </a:pPr>
            <a:r>
              <a:t>• Data Ingestion &amp; Cloud Infra: </a:t>
            </a:r>
            <a:r>
              <a:rPr b="0">
                <a:solidFill>
                  <a:srgbClr val="0F172A"/>
                </a:solidFill>
              </a:rPr>
              <a:t>Open-Meteo NWP, NASA POWER (MERRA-2), Census India PCA, Docker, Linux VPS (Oracle 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2011680" cy="5029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ThermoShield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0" y="164592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Georgia"/>
              </a:defRPr>
            </a:pPr>
            <a:r>
              <a:t>FEASIBILITY AND VIABILITY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37160"/>
            <a:ext cx="201168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2C59"/>
                </a:solidFill>
                <a:latin typeface="Arial"/>
              </a:defRPr>
            </a:pPr>
            <a:r>
              <a:t>SMART INDIA</a:t>
            </a:r>
          </a:p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2C59"/>
                </a:solidFill>
              </a:defRPr>
            </a:pPr>
            <a:r>
              <a:t>❖  Is this Idea feasible ?</a:t>
            </a:r>
          </a:p>
          <a:p>
            <a:pPr>
              <a:spcBef>
                <a:spcPts val="100"/>
              </a:spcBef>
              <a:defRPr sz="900">
                <a:solidFill>
                  <a:srgbClr val="0F172A"/>
                </a:solidFill>
              </a:defRPr>
            </a:pPr>
            <a:r>
              <a:t>The proposed ThermoShield system is fully feasible due to open, keyless Tier-1 atmospheric data pipelines (Open-Meteo 0.1° NWP hourly forecasts and NASA POWER MERRA-2 40-year climatological normals) and validated biometeorological equations (UTCI polynomial &amp; ISO 7243 WBGT). The use of Census 2011 PCA demographics enables hyper-local ward-level vulnerability mapping without waiting for restricted government clearance.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❖  Product Offering: We offer this platform to Municipal Corporations, State Disaster Management Authorities (SDMAs), Health Departments, and Gig Platforms as an automated, impact-to-action early warning and resource coordination 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685800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Challenges &amp; Risks:                                             Strategies for Overcoming: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Data Heterogeneity (0.1° Grid vs Wards)
</a:t>
            </a:r>
            <a:r>
              <a:rPr sz="900" b="1">
                <a:solidFill>
                  <a:srgbClr val="16A34A"/>
                </a:solidFill>
              </a:rPr>
              <a:t>   ➔  Spatial Harmonization &amp; Polygon Attribution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Confidential Hospital Mortality Records
</a:t>
            </a:r>
            <a:r>
              <a:rPr sz="900" b="1">
                <a:solidFill>
                  <a:srgbClr val="16A34A"/>
                </a:solidFill>
              </a:rPr>
              <a:t>   ➔  Epidemiological Calibration (Azhar 2014 &amp; Mazdiyasni 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88536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Model Overfitting / False Death Claims
</a:t>
            </a:r>
            <a:r>
              <a:rPr sz="900" b="1">
                <a:solidFill>
                  <a:srgbClr val="16A34A"/>
                </a:solidFill>
              </a:rPr>
              <a:t>   ➔  Bounded 0–100 Human Heat-Health Risk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46904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False Alarm Fatigue (Single Spikes)
</a:t>
            </a:r>
            <a:r>
              <a:rPr sz="900" b="1">
                <a:solidFill>
                  <a:srgbClr val="16A34A"/>
                </a:solidFill>
              </a:rPr>
              <a:t>   ➔  Compound Multi-Day Persistence Multiplier (Dmult)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05272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Uncooled Nighttime Strain (Tmin &gt; 28°C)
</a:t>
            </a:r>
            <a:r>
              <a:rPr sz="900" b="1">
                <a:solidFill>
                  <a:srgbClr val="16A34A"/>
                </a:solidFill>
              </a:rPr>
              <a:t>   ➔  Explicit Nocturnal Recovery Penalty Algorithm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468880"/>
            <a:ext cx="3687775" cy="3886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C59"/>
                </a:solidFill>
              </a:defRPr>
            </a:pPr>
            <a:r>
              <a:t>Expected Customers &amp; Users:</a:t>
            </a:r>
          </a:p>
          <a:p>
            <a:pPr>
              <a:spcBef>
                <a:spcPts val="500"/>
              </a:spcBef>
              <a:defRPr sz="900" b="1">
                <a:solidFill>
                  <a:srgbClr val="0F2C59"/>
                </a:solidFill>
              </a:defRPr>
            </a:pPr>
            <a:r>
              <a:t>➢  Municipal Corporations &amp; Smart Cities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ward-level water tankers, cool roofs &amp; cooling centers.</a:t>
            </a:r>
          </a:p>
          <a:p>
            <a:pPr>
              <a:spcBef>
                <a:spcPts val="500"/>
              </a:spcBef>
              <a:defRPr sz="900" b="1">
                <a:solidFill>
                  <a:srgbClr val="0F2C59"/>
                </a:solidFill>
              </a:defRPr>
            </a:pPr>
            <a:r>
              <a:t>➢  Health Departments &amp; Hospitals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heatstroke emergency ward &amp; IV fluid prepositioning.</a:t>
            </a:r>
          </a:p>
          <a:p>
            <a:pPr>
              <a:spcBef>
                <a:spcPts val="500"/>
              </a:spcBef>
              <a:defRPr sz="900" b="1">
                <a:solidFill>
                  <a:srgbClr val="0F2C59"/>
                </a:solidFill>
              </a:defRPr>
            </a:pPr>
            <a:r>
              <a:t>➢  State Disaster Management (SDMA / NDMA)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automated Heat Action Plan (HAP) trigger activation.</a:t>
            </a:r>
          </a:p>
          <a:p>
            <a:pPr>
              <a:spcBef>
                <a:spcPts val="500"/>
              </a:spcBef>
              <a:defRPr sz="900" b="1">
                <a:solidFill>
                  <a:srgbClr val="0F2C59"/>
                </a:solidFill>
              </a:defRPr>
            </a:pPr>
            <a:r>
              <a:t>➢  Gig Platforms &amp; Construction Sector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mandatory NIOSH labor halt (11 AM–4 PM) compliance.</a:t>
            </a:r>
          </a:p>
          <a:p>
            <a:pPr>
              <a:spcBef>
                <a:spcPts val="500"/>
              </a:spcBef>
              <a:defRPr sz="900" b="1">
                <a:solidFill>
                  <a:srgbClr val="0F2C59"/>
                </a:solidFill>
              </a:defRPr>
            </a:pPr>
            <a:r>
              <a:t>➢  DISCOMs &amp; Power Utilities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predictive grid load planning during peak cooling demand.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2011680" cy="5029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ThermoShield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0" y="164592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Georgia"/>
              </a:defRPr>
            </a:pPr>
            <a:r>
              <a:t>IMPACT AND BENEFITS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37160"/>
            <a:ext cx="201168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2C59"/>
                </a:solidFill>
                <a:latin typeface="Arial"/>
              </a:defRPr>
            </a:pPr>
            <a:r>
              <a:t>SMART INDIA</a:t>
            </a:r>
          </a:p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F2C59"/>
                </a:solidFill>
              </a:defRPr>
            </a:pPr>
            <a:r>
              <a:t>Target Audience — Municipal Commissioners, Chief Medical Officers, Disaster Response Teams (NDMA/SDRF), Gig Workers, Construction Laborers, Urban Slum Residents, General Public.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</a:defRPr>
            </a:pPr>
            <a:r>
              <a:t>(All above stakeholders receive tailored biometeorological intelligence and automated sector-specific action protocols.)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10728655" cy="12801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2C59"/>
                </a:solidFill>
              </a:defRPr>
            </a:pPr>
            <a:r>
              <a:t>72h–120h (3–5 DAY) PRE-EMPTIVE HEAT ACTION TIMELINE: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</a:defRPr>
            </a:pPr>
            <a:r>
              <a:t>• 120h (D-5): NWP model flags thermal moisture surge → Early municipal advisory &amp; DISCOM grid warnings issued</a:t>
            </a:r>
            <a:br/>
            <a:r>
              <a:t>• 72h (D-3): Cumulative heat persistence detected → Water tankers and mobile misting units dispatched to high-risk slums</a:t>
            </a:r>
            <a:br/>
            <a:r>
              <a:t>• 48h (D-2): Hospital surge beds &amp; ice-bath cooling centers staged; emergency ORS supplies prepositioned</a:t>
            </a:r>
            <a:br/>
            <a:r>
              <a:t>• 24h (D-1): Mandatory NIOSH labor halts mandated for construction &amp; delivery workers during peak hours (11 AM–4 PM)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342900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● Social Benefits: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Protects Vulnerable Citizens: </a:t>
            </a:r>
            <a:r>
              <a:rPr b="0">
                <a:solidFill>
                  <a:srgbClr val="0F172A"/>
                </a:solidFill>
              </a:rPr>
              <a:t>Dramatically reduces heatstroke morbidity among elderly, children, and chronic disease patients.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Protects Informal Laborers: </a:t>
            </a:r>
            <a:r>
              <a:rPr b="0">
                <a:solidFill>
                  <a:srgbClr val="0F172A"/>
                </a:solidFill>
              </a:rPr>
              <a:t>Enforces humane work-rest cycles for delivery and construction workers.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Bilingual Public Alerts: </a:t>
            </a:r>
            <a:r>
              <a:rPr b="0">
                <a:solidFill>
                  <a:srgbClr val="0F172A"/>
                </a:solidFill>
              </a:rPr>
              <a:t>Delivers plain-language vernacular guidance via SMS/WhatsApp to eliminate technical barriers.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971800"/>
            <a:ext cx="342900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6A34A"/>
                </a:solidFill>
              </a:defRPr>
            </a:pPr>
            <a:r>
              <a:t>● Economical Benefits: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Prevents Productivity Loss: </a:t>
            </a:r>
            <a:r>
              <a:rPr b="0">
                <a:solidFill>
                  <a:srgbClr val="0F172A"/>
                </a:solidFill>
              </a:rPr>
              <a:t>Mitigates lost labor hours through scheduled morning/evening shifts ($3.8B/yr India heat loss).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Optimized Relief Routing: </a:t>
            </a:r>
            <a:r>
              <a:rPr b="0">
                <a:solidFill>
                  <a:srgbClr val="0F172A"/>
                </a:solidFill>
              </a:rPr>
              <a:t>Avoids wasteful blanket relief by targeting water tankers to high-vulnerability wards.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Reduces Emergency Care Costs: </a:t>
            </a:r>
            <a:r>
              <a:rPr b="0">
                <a:solidFill>
                  <a:srgbClr val="0F172A"/>
                </a:solidFill>
              </a:rPr>
              <a:t>Pre-empts severe multi-organ failure and ICU hospitalization surges.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971800"/>
            <a:ext cx="342900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● Environmental &amp; Urban Benefits: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Urban Heat Island (UHI) Mapping: </a:t>
            </a:r>
            <a:r>
              <a:rPr b="0">
                <a:solidFill>
                  <a:srgbClr val="0F172A"/>
                </a:solidFill>
              </a:rPr>
              <a:t>Identifies micro-urban hot spots and green canopy deficits.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Sustainable Urban Planning: </a:t>
            </a:r>
            <a:r>
              <a:rPr b="0">
                <a:solidFill>
                  <a:srgbClr val="0F172A"/>
                </a:solidFill>
              </a:rPr>
              <a:t>Guides long-term municipal cool roof installations and tree planting programs.</a:t>
            </a:r>
          </a:p>
          <a:p>
            <a:pPr>
              <a:spcBef>
                <a:spcPts val="400"/>
              </a:spcBef>
              <a:defRPr sz="850" b="1">
                <a:solidFill>
                  <a:srgbClr val="0F2C59"/>
                </a:solidFill>
              </a:defRPr>
            </a:pPr>
            <a:r>
              <a:t>▪  Effective Climate Resilience: </a:t>
            </a:r>
            <a:r>
              <a:rPr b="0">
                <a:solidFill>
                  <a:srgbClr val="0F172A"/>
                </a:solidFill>
              </a:rPr>
              <a:t>Operationalizes national disaster mitigation at municipal ward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2011680" cy="5029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ThermoShield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0" y="164592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Georgia"/>
              </a:defRPr>
            </a:pPr>
            <a:r>
              <a:t>RESEARCH AND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37160"/>
            <a:ext cx="201168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2C59"/>
                </a:solidFill>
                <a:latin typeface="Arial"/>
              </a:defRPr>
            </a:pPr>
            <a:r>
              <a:t>SMART INDIA</a:t>
            </a:r>
          </a:p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5394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Universal Thermal Climate Index (UTCI) Consortium (WMO / COST Action 730): </a:t>
            </a:r>
            <a:r>
              <a:rPr b="0">
                <a:solidFill>
                  <a:srgbClr val="0F172A"/>
                </a:solidFill>
              </a:rPr>
              <a:t>"Development of the Universal Thermal Climate Index (UTCI)", Bröde, Fiala, Błażejczyk et al., Int J Biometeorol (2012). Multi-node thermophysiological polynomial.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Occupational Heat Stress Standards (ISO 7243:2017 &amp; NIOSH): </a:t>
            </a:r>
            <a:r>
              <a:rPr b="0">
                <a:solidFill>
                  <a:srgbClr val="0F172A"/>
                </a:solidFill>
              </a:rPr>
              <a:t>"Criteria for a Recommended Standard: Occupational Exposure to Heat and Hot Environments", CDC / NIOSH Publication No. 2016-106. Standard for WBGT thresholds &amp; work-rest cycles.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Epidemiological Heat-Health Grounding in Indian Cities (Ahmedabad 2010): </a:t>
            </a:r>
            <a:r>
              <a:rPr b="0">
                <a:solidFill>
                  <a:srgbClr val="0F172A"/>
                </a:solidFill>
              </a:rPr>
              <a:t>"The 2010 Ahmedabad Heat Wave: Impact on Mortality and Strategy for Resilient Cities", Azhar et al., PLoS ONE (2014). Documented 1,344 excess deaths (43.1% surge) validating humidity-heat risk.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50-Year Multi-Decadal Heat Impact in India (PNAS Reference): </a:t>
            </a:r>
            <a:r>
              <a:rPr b="0">
                <a:solidFill>
                  <a:srgbClr val="0F172A"/>
                </a:solidFill>
              </a:rPr>
              <a:t>"Increasing probability of mass-fatality heatwaves in India", Mazdiyasni et al., Proceedings of the National Academy of Sciences (PNAS, 2017). Proving +0.5°C threshold triggers 146% rise in mass mortality events.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National Disaster &amp; Health Policy Guidelines (NDMA &amp; MoHFW NCDC): </a:t>
            </a:r>
            <a:r>
              <a:rPr b="0">
                <a:solidFill>
                  <a:srgbClr val="0F172A"/>
                </a:solidFill>
              </a:rPr>
              <a:t>"National Action Plan for Heat-Related Illnesses (NAP-HRI)", National Programme on Climate Change and Human Health (NPCCHH, 2024) &amp; NDMA National Heatwave Guidelines.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NWP &amp; Satellite Climatology Portals: </a:t>
            </a:r>
            <a:r>
              <a:rPr b="0">
                <a:solidFill>
                  <a:srgbClr val="0F172A"/>
                </a:solidFill>
              </a:rPr>
              <a:t>National Centre for Medium Range Weather Forecasting (NCMRWF) NWP Portal, IMD Geospatial Bulletins &amp; NASA POWER MERRA-2 (LaRC) 40-Year Climatological Baseline.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Demographic Spatial Vulnerability: </a:t>
            </a:r>
            <a:r>
              <a:rPr b="0">
                <a:solidFill>
                  <a:srgbClr val="0F172A"/>
                </a:solidFill>
              </a:rPr>
              <a:t>Census of India 2011 Primary Census Abstract (PCA) Ward Demographics &amp; Open-Meteo High-Resolution Numerical Weather Prediction API.</a:t>
            </a:r>
          </a:p>
          <a:p>
            <a:pPr>
              <a:spcBef>
                <a:spcPts val="350"/>
              </a:spcBef>
              <a:defRPr sz="950" b="1">
                <a:solidFill>
                  <a:srgbClr val="0F2C59"/>
                </a:solidFill>
              </a:defRPr>
            </a:pPr>
            <a:r>
              <a:t>●  Research Gap Addressed: </a:t>
            </a:r>
            <a:r>
              <a:rPr b="0">
                <a:solidFill>
                  <a:srgbClr val="0F172A"/>
                </a:solidFill>
              </a:rPr>
              <a:t>Bridges the operational gap between macro-scale meteorological forecasts and actionable, localized public health interventions by providing an automated impact-to-action intelligence 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