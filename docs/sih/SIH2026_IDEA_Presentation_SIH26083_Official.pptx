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91695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"/>
            <a:ext cx="1072865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SMART INDIA HACKATHON 2026</a:t>
            </a:r>
          </a:p>
          <a:p>
            <a:pPr algn="ctr">
              <a:spcBef>
                <a:spcPts val="200"/>
              </a:spcBef>
              <a:defRPr sz="1200">
                <a:solidFill>
                  <a:srgbClr val="EA580C"/>
                </a:solidFill>
              </a:defRPr>
            </a:pPr>
            <a:r>
              <a:t>Official Idea Presentation Template  |  Ministry of Earth Sciences (MoES)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28655" cy="164592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600200"/>
            <a:ext cx="10180015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PROPOSED SOLUTION NAME</a:t>
            </a:r>
          </a:p>
          <a:p>
            <a:pPr>
              <a:spcBef>
                <a:spcPts val="200"/>
              </a:spcBef>
              <a:defRPr sz="2400" b="1">
                <a:solidFill>
                  <a:srgbClr val="0F2C59"/>
                </a:solidFill>
              </a:defRPr>
            </a:pPr>
            <a:r>
              <a:t>ThermoShield — AI-Driven Human Heat Risk &amp; Early Warning System</a:t>
            </a:r>
          </a:p>
          <a:p>
            <a:pPr>
              <a:spcBef>
                <a:spcPts val="400"/>
              </a:spcBef>
              <a:defRPr sz="1300" b="1">
                <a:solidFill>
                  <a:srgbClr val="0284C7"/>
                </a:solidFill>
              </a:defRPr>
            </a:pPr>
            <a:r>
              <a:t>From Weather Forecasts → Physiological Human Thermal Stress → Hyper-Local Ward Action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91840"/>
            <a:ext cx="521208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429000"/>
            <a:ext cx="484632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</a:defRPr>
            </a:pPr>
            <a:r>
              <a:t>PROBLEM STATEMENT DETAILS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Problem Statement ID: </a:t>
            </a:r>
            <a:r>
              <a:rPr b="0">
                <a:solidFill>
                  <a:srgbClr val="1E293B"/>
                </a:solidFill>
              </a:rPr>
              <a:t>SIH26083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Problem Statement Title: </a:t>
            </a:r>
            <a:r>
              <a:rPr b="0">
                <a:solidFill>
                  <a:srgbClr val="1E293B"/>
                </a:solidFill>
              </a:rPr>
              <a:t>Extreme Heatwave Early Warning and Human Thermal Stress Index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Organization: </a:t>
            </a:r>
            <a:r>
              <a:rPr b="0">
                <a:solidFill>
                  <a:srgbClr val="1E293B"/>
                </a:solidFill>
              </a:rPr>
              <a:t>Ministry of Earth Sciences (MoES)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Department: </a:t>
            </a:r>
            <a:r>
              <a:rPr b="0">
                <a:solidFill>
                  <a:srgbClr val="1E293B"/>
                </a:solidFill>
              </a:rPr>
              <a:t>National Centre for Medium Range Weather Forecasting (NCMRWF)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Theme: </a:t>
            </a:r>
            <a:r>
              <a:rPr b="0">
                <a:solidFill>
                  <a:srgbClr val="1E293B"/>
                </a:solidFill>
              </a:rPr>
              <a:t>Disaster Management</a:t>
            </a:r>
          </a:p>
          <a:p>
            <a:pPr>
              <a:spcBef>
                <a:spcPts val="400"/>
              </a:spcBef>
              <a:defRPr sz="1050" b="1">
                <a:solidFill>
                  <a:srgbClr val="EA580C"/>
                </a:solidFill>
              </a:defRPr>
            </a:pPr>
            <a:r>
              <a:t>• PS Category: </a:t>
            </a:r>
            <a:r>
              <a:rPr b="0">
                <a:solidFill>
                  <a:srgbClr val="1E293B"/>
                </a:solidFill>
              </a:rPr>
              <a:t>Software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3291840"/>
            <a:ext cx="5212080" cy="3108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3429000"/>
            <a:ext cx="4846320" cy="2834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</a:defRPr>
            </a:pPr>
            <a:r>
              <a:t>TEAM &amp; SUBMISSION DETAILS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Team ID: </a:t>
            </a:r>
            <a:r>
              <a:rPr b="0">
                <a:solidFill>
                  <a:srgbClr val="1E293B"/>
                </a:solidFill>
              </a:rPr>
              <a:t>[YOUR REGISTERED TEAM ID]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Team Name: </a:t>
            </a:r>
            <a:r>
              <a:rPr b="0">
                <a:solidFill>
                  <a:srgbClr val="1E293B"/>
                </a:solidFill>
              </a:rPr>
              <a:t>[YOUR REGISTERED TEAM NAME]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Team Leader: </a:t>
            </a:r>
            <a:r>
              <a:rPr b="0">
                <a:solidFill>
                  <a:srgbClr val="1E293B"/>
                </a:solidFill>
              </a:rPr>
              <a:t>[TEAM LEADER NAME]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Institute Name: </a:t>
            </a:r>
            <a:r>
              <a:rPr b="0">
                <a:solidFill>
                  <a:srgbClr val="1E293B"/>
                </a:solidFill>
              </a:rPr>
              <a:t>[YOUR COLLEGE / UNIVERSITY NAME]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Core Science: </a:t>
            </a:r>
            <a:r>
              <a:rPr b="0">
                <a:solidFill>
                  <a:srgbClr val="1E293B"/>
                </a:solidFill>
              </a:rPr>
              <a:t>Universal Thermal Climate Index (UTCI) + ISO 7243 WBGT</a:t>
            </a:r>
          </a:p>
          <a:p>
            <a:pPr>
              <a:spcBef>
                <a:spcPts val="400"/>
              </a:spcBef>
              <a:defRPr sz="1050" b="1">
                <a:solidFill>
                  <a:srgbClr val="16A34A"/>
                </a:solidFill>
              </a:defRPr>
            </a:pPr>
            <a:r>
              <a:t>• Prototype Status: </a:t>
            </a:r>
            <a:r>
              <a:rPr b="0">
                <a:solidFill>
                  <a:srgbClr val="1E293B"/>
                </a:solidFill>
              </a:rPr>
              <a:t>Fully runnable Tier-1 prototype with multi-city GIS &amp; REST API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Arial"/>
              </a:defRPr>
            </a:pPr>
            <a:r>
              <a:t>SMART INDIA HACKATHON 2026  •  OFFICIAL IDEA PRESENTATION  •  SLIDE 2/6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IDEA &amp; PROPOSED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  <a:latin typeface="Arial"/>
              </a:defRPr>
            </a:pPr>
            <a:r>
              <a:t>ThermoShield: Unified Impact-Based Heat Risk Operating System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120640" cy="45262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91640"/>
            <a:ext cx="4754880" cy="425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</a:defRPr>
            </a:pPr>
            <a:r>
              <a:t>END-TO-END OPERATIONAL FLOWCHART</a:t>
            </a:r>
          </a:p>
          <a:p>
            <a:pPr>
              <a:spcBef>
                <a:spcPts val="500"/>
              </a:spcBef>
              <a:defRPr sz="1100" b="1">
                <a:solidFill>
                  <a:srgbClr val="0284C7"/>
                </a:solidFill>
              </a:defRPr>
            </a:pPr>
            <a:r>
              <a:t>● WEATHER + SATELLITE + DEMOGRAPHICS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5-Day NWP Forecasts + NASA 30-Yr Climatology + Census 2011 PCA Data</a:t>
            </a:r>
          </a:p>
          <a:p>
            <a:pPr>
              <a:spcBef>
                <a:spcPts val="500"/>
              </a:spcBef>
              <a:defRPr sz="1100" b="1">
                <a:solidFill>
                  <a:srgbClr val="EA580C"/>
                </a:solidFill>
              </a:defRPr>
            </a:pPr>
            <a:r>
              <a:t>▼ HUMAN THERMAL STRESS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UTCI (Fiala 187-Node Model) + ISO 7243 WBGT + NOAA Heat Index</a:t>
            </a:r>
          </a:p>
          <a:p>
            <a:pPr>
              <a:spcBef>
                <a:spcPts val="500"/>
              </a:spcBef>
              <a:defRPr sz="1100" b="1">
                <a:solidFill>
                  <a:srgbClr val="DC2626"/>
                </a:solidFill>
              </a:defRPr>
            </a:pPr>
            <a:r>
              <a:t>▼ AI &amp; POPULATION RISK MODEL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Relative Heat-Health Score (0–100) with Multi-Day Accumulation Penalty</a:t>
            </a:r>
          </a:p>
          <a:p>
            <a:pPr>
              <a:spcBef>
                <a:spcPts val="500"/>
              </a:spcBef>
              <a:defRPr sz="1100" b="1">
                <a:solidFill>
                  <a:srgbClr val="0F2C59"/>
                </a:solidFill>
              </a:defRPr>
            </a:pPr>
            <a:r>
              <a:t>▼ SPATIAL VULNERABILITY (GIS)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Ward/Zone Risk Mapping (Elderly, Outdoor Labor, Slums, Green Deficit)</a:t>
            </a:r>
          </a:p>
          <a:p>
            <a:pPr>
              <a:spcBef>
                <a:spcPts val="500"/>
              </a:spcBef>
              <a:defRPr sz="1100" b="1">
                <a:solidFill>
                  <a:srgbClr val="16A34A"/>
                </a:solidFill>
              </a:defRPr>
            </a:pPr>
            <a:r>
              <a:t>▼ AUTOMATED ACTION ENGINE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   Bilingual NDMA Advisories, Hospital Surge Triggers, NIOSH Labor Cycles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65215" y="1554480"/>
            <a:ext cx="53949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627632"/>
            <a:ext cx="508406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1. Multidimensional Thermal Stress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Does not rely on dry-bulb temperature alone. Accurately evaluates sweat evaporation breakdown (UTCI/WBGT) where high humidity turns 40°C lethal.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65215" y="2715768"/>
            <a:ext cx="53949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788920"/>
            <a:ext cx="508406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2. Human-Centric Risk vs Raw Weather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Translates atmospheric parameters into physiological thermoregulatory strain and population health vulnerability.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65215" y="3877056"/>
            <a:ext cx="53949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3950208"/>
            <a:ext cx="508406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3. Hyper-Local Ward Prioritization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Differentiates affluent shaded residential sectors from densely packed informal settlements with tin roofs and high worker concentrations.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65215" y="5038344"/>
            <a:ext cx="5394960" cy="10515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5111496"/>
            <a:ext cx="5084064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4. Automated Action &amp; Advisory Trigger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Directly translates risk into sector-specific advisories: gig worker hydration quotas, construction halts (11 AM–4 PM), and hospital surge beds.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6172200"/>
            <a:ext cx="10728655" cy="4572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21792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50" b="1">
                <a:solidFill>
                  <a:srgbClr val="0F2C59"/>
                </a:solidFill>
              </a:defRPr>
            </a:pPr>
            <a:r>
              <a:t>ONE-LINE USP: Not another heat map — an automated, end-to-end impact-to-action intelligence layer for heatwaves.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Arial"/>
              </a:defRPr>
            </a:pPr>
            <a:r>
              <a:t>SMART INDIA HACKATHON 2026  •  OFFICIAL IDEA PRESENTATION  •  SLIDE 3/6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TECHNICAL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  <a:latin typeface="Arial"/>
              </a:defRPr>
            </a:pPr>
            <a:r>
              <a:t>5-Layer Production Architecture, Standards &amp; Stack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9344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LAYER 1: DATA INGESTION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Open-Meteo 5-Day NWP Hourly Forecast (0.1° Grid) + NASA POWER MERRA-2 30-Yr Climatological Baseline + Census 2011 PCA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286000"/>
            <a:ext cx="10728655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40864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4748B"/>
                </a:solidFill>
              </a:defRPr>
            </a:pPr>
            <a:r>
              <a:t>LAYER 2: DATA PREPROCESSING &amp; ALIGNMENT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Coordinate Spatial Harmonization + Vapor Pressure (Buck 1981) + Logarithmic Wind Profile Downscaling (10m → 1.2m human center)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17520"/>
            <a:ext cx="10728655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72384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EA580C"/>
                </a:solidFill>
              </a:defRPr>
            </a:pPr>
            <a:r>
              <a:t>LAYER 3: THERMAL STRESS ENGINE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Universal Thermal Climate Index (6th-order UTCI polynomial) + ISO 7243 Outdoor WBGT (Stull Tw + Liljegren Tg) + NOAA Heat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40"/>
            <a:ext cx="10728655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LAYER 4: AI &amp; VULNERABILITY SYNTHESIS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Demographic HVI Weighting (Elderly 25%, Labor 25%, Slum 20%, Child 15%, Canopy Deficit 15%) + Multi-Day Persistence Penalty (Dmult)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480560"/>
            <a:ext cx="10728655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535424"/>
            <a:ext cx="103628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LAYER 5: DECISION &amp; ACTION DELIVERY</a:t>
            </a:r>
          </a:p>
          <a:p>
            <a:pPr>
              <a:spcBef>
                <a:spcPts val="200"/>
              </a:spcBef>
              <a:defRPr sz="950">
                <a:solidFill>
                  <a:srgbClr val="1E293B"/>
                </a:solidFill>
              </a:defRPr>
            </a:pPr>
            <a:r>
              <a:t>Interactive Leaflet GIS Choropleth + Chart.js Multi-Day Curves + Bilingual NDMA Playbooks + Telegram Broadcaster + 25 REST Endpoints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303520"/>
            <a:ext cx="521208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5394960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2C59"/>
                </a:solidFill>
              </a:defRPr>
            </a:pPr>
            <a:r>
              <a:t>COMPACT &amp; REPRODUCIBLE TECH STACK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Backend &amp; API: Python 3.11, FastAPI, Pydantic v2, Uvicorn (25 REST routes)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Scientific &amp; GIS: NumPy, Pandas, GeoPandas, Shapely (Polynomial &amp; Psychrometrics)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Frontend &amp; Viz: Leaflet.js (Choropleth GIS), Chart.js (5-day curves), Vanilla HTML5/CSS3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Deployment: Docker, Docker Compose, Linux VPS (OCI Oracle 6.17), GitHub CI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48095" y="5303520"/>
            <a:ext cx="5212080" cy="1325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30975" y="5394960"/>
            <a:ext cx="4846320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2C59"/>
                </a:solidFill>
              </a:defRPr>
            </a:pPr>
            <a:r>
              <a:t>SCIENTIFIC CITATIONS &amp; METHODOLOGY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UTCI Consortium: Fiala 187-node human thermoregulation polynomial (WMO standard)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ISO 7243:2017 &amp; NIOSH: Occupational heat-stress criteria and work-rest ratios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NDMA 2024 &amp; NCDC NPCCHH: National Action Plan for Heat-Related Illnesses</a:t>
            </a:r>
          </a:p>
          <a:p>
            <a:pPr>
              <a:spcBef>
                <a:spcPts val="200"/>
              </a:spcBef>
              <a:defRPr sz="900">
                <a:solidFill>
                  <a:srgbClr val="1E293B"/>
                </a:solidFill>
              </a:defRPr>
            </a:pPr>
            <a:r>
              <a:t>• Epidemiological Proof: Azhar et al. (2014) PLoS ONE &amp; Mazdiyasni et al. (2017) PNAS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Arial"/>
              </a:defRPr>
            </a:pPr>
            <a:r>
              <a:t>SMART INDIA HACKATHON 2026  •  OFFICIAL IDEA PRESENTATION  •  SLIDE 4/6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FEASIBILITY &amp; VIABILITY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  <a:latin typeface="Arial"/>
              </a:defRPr>
            </a:pPr>
            <a:r>
              <a:t>Technical Risk Mitigation Matrix &amp; 4-Phase Deployment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342900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31546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DC2626"/>
                </a:solidFill>
              </a:defRPr>
            </a:pPr>
            <a:r>
              <a:t>POTENTIAL CHALLENGE &amp; RISK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Data Heterogeneity: </a:t>
            </a:r>
            <a:r>
              <a:rPr b="0">
                <a:solidFill>
                  <a:srgbClr val="1E293B"/>
                </a:solidFill>
              </a:rPr>
              <a:t>Varying spatial resolutions between NWP grids (0.1°) and municipal ward polygons.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Health Data Inaccessibility: </a:t>
            </a:r>
            <a:r>
              <a:rPr b="0">
                <a:solidFill>
                  <a:srgbClr val="1E293B"/>
                </a:solidFill>
              </a:rPr>
              <a:t>Hospital admission records and clinical mortality data are confidential/restricted.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Model Over-Fitting / Hallucination: </a:t>
            </a:r>
            <a:r>
              <a:rPr b="0">
                <a:solidFill>
                  <a:srgbClr val="1E293B"/>
                </a:solidFill>
              </a:rPr>
              <a:t>Predicting absolute death counts without clinical validation invites severe error.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False Alarm Fatigue: </a:t>
            </a:r>
            <a:r>
              <a:rPr b="0">
                <a:solidFill>
                  <a:srgbClr val="1E293B"/>
                </a:solidFill>
              </a:rPr>
              <a:t>Single temperature spikes triggering premature citywide lockdowns.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1554480"/>
            <a:ext cx="342900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645920"/>
            <a:ext cx="31546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OUR ENGINEERING MITIGATION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Spatial Harmonization: </a:t>
            </a:r>
            <a:r>
              <a:rPr b="0">
                <a:solidFill>
                  <a:srgbClr val="1E293B"/>
                </a:solidFill>
              </a:rPr>
              <a:t>Dynamic geometric attribution over Census ward boundaries with population weighting.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Public Baseline Adaptation: </a:t>
            </a:r>
            <a:r>
              <a:rPr b="0">
                <a:solidFill>
                  <a:srgbClr val="1E293B"/>
                </a:solidFill>
              </a:rPr>
              <a:t>Grounded in peer-reviewed epidemiological benchmarks (Azhar 2014, Mazdiyasni 2017).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Relative Risk Indexing: </a:t>
            </a:r>
            <a:r>
              <a:rPr b="0">
                <a:solidFill>
                  <a:srgbClr val="1E293B"/>
                </a:solidFill>
              </a:rPr>
              <a:t>Bounded 0–100 human heat-health risk score with NDMA-aligned action bands.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Multi-Day Persistence Penalty: </a:t>
            </a:r>
            <a:r>
              <a:rPr b="0">
                <a:solidFill>
                  <a:srgbClr val="1E293B"/>
                </a:solidFill>
              </a:rPr>
              <a:t>Compound duration formula requiring sustained physiological strain to escalate alerts.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2" y="1554480"/>
            <a:ext cx="3429000" cy="29260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65592" y="1645920"/>
            <a:ext cx="315468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6A34A"/>
                </a:solidFill>
              </a:defRPr>
            </a:pPr>
            <a:r>
              <a:t>WHY IT IS HIGHLY FEASIBLE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Operational Data Ecosystem: </a:t>
            </a:r>
            <a:r>
              <a:rPr b="0">
                <a:solidFill>
                  <a:srgbClr val="1E293B"/>
                </a:solidFill>
              </a:rPr>
              <a:t>Open-Meteo &amp; NASA POWER provide open, keyless, reliable programmatic feeds today.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Tier-1 Prototype Ready: </a:t>
            </a:r>
            <a:r>
              <a:rPr b="0">
                <a:solidFill>
                  <a:srgbClr val="1E293B"/>
                </a:solidFill>
              </a:rPr>
              <a:t>100% functional without government clearance, human approvals, or private API keys.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Validated Monotonicity: </a:t>
            </a:r>
            <a:r>
              <a:rPr b="0">
                <a:solidFill>
                  <a:srgbClr val="1E293B"/>
                </a:solidFill>
              </a:rPr>
              <a:t>Exhaustive tests (38 test suites passing) ensure robust physical calculations.</a:t>
            </a:r>
          </a:p>
          <a:p>
            <a:pPr>
              <a:spcBef>
                <a:spcPts val="300"/>
              </a:spcBef>
              <a:defRPr sz="900" b="1">
                <a:solidFill>
                  <a:srgbClr val="0F2C59"/>
                </a:solidFill>
              </a:defRPr>
            </a:pPr>
            <a:r>
              <a:t>• Zero Infrastructure Cost: </a:t>
            </a:r>
            <a:r>
              <a:rPr b="0">
                <a:solidFill>
                  <a:srgbClr val="1E293B"/>
                </a:solidFill>
              </a:rPr>
              <a:t>Lightweight, containerized architecture deployable on commodity VPS or cloud.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617720"/>
            <a:ext cx="2542032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709160"/>
            <a:ext cx="232257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PHASE 1 (COMPLETED)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Tier-1 Autonomous Prototype</a:t>
            </a:r>
            <a:br/>
            <a:r>
              <a:t>• Full UTCI / WBGT engines</a:t>
            </a:r>
            <a:br/>
            <a:r>
              <a:t>• Delhi NCR baseline</a:t>
            </a:r>
            <a:br/>
            <a:r>
              <a:t>• Keyless NWP &amp; NASA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56432" y="4617720"/>
            <a:ext cx="2542032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2257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6A34A"/>
                </a:solidFill>
              </a:defRPr>
            </a:pPr>
            <a:r>
              <a:t>PHASE 2 (COMPLETED)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Multi-City Ward Expansion</a:t>
            </a:r>
            <a:br/>
            <a:r>
              <a:t>• 5 Metros (DL, AH, ST, BB, MU)</a:t>
            </a:r>
            <a:br/>
            <a:r>
              <a:t>• Census 2011 PCA HVI overlay</a:t>
            </a:r>
            <a:br/>
            <a:r>
              <a:t>• Bilingual NDMA playbooks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4617720"/>
            <a:ext cx="2542032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4709160"/>
            <a:ext cx="232257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PHASE 3 (NEXT 3 MONTHS)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NCMRWF Ensemble Integration</a:t>
            </a:r>
            <a:br/>
            <a:r>
              <a:t>• Direct MoES GRIB2 streams</a:t>
            </a:r>
            <a:br/>
            <a:r>
              <a:t>• MOSDAC INSAT LST integration</a:t>
            </a:r>
            <a:br/>
            <a:r>
              <a:t>• Automated WhatsApp dispatch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06256" y="4617720"/>
            <a:ext cx="2542032" cy="19659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15984" y="4709160"/>
            <a:ext cx="2322576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PHASE 4 (SCALE / PRODUCTION)</a:t>
            </a:r>
          </a:p>
          <a:p>
            <a:pPr>
              <a:spcBef>
                <a:spcPts val="300"/>
              </a:spcBef>
              <a:defRPr sz="850">
                <a:solidFill>
                  <a:srgbClr val="1E293B"/>
                </a:solidFill>
              </a:defRPr>
            </a:pPr>
            <a:r>
              <a:t>National Health Surveillance</a:t>
            </a:r>
            <a:br/>
            <a:r>
              <a:t>• Integration with IDSP / NHRIDS</a:t>
            </a:r>
            <a:br/>
            <a:r>
              <a:t>• Machine learning calibration</a:t>
            </a:r>
            <a:br/>
            <a:r>
              <a:t>• Nationwide municipal rollout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Arial"/>
              </a:defRPr>
            </a:pPr>
            <a:r>
              <a:t>SMART INDIA HACKATHON 2026  •  OFFICIAL IDEA PRESENTATION  •  SLIDE 5/6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IMPACT &amp;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  <a:latin typeface="Arial"/>
              </a:defRPr>
            </a:pPr>
            <a:r>
              <a:t>Target Stakeholders &amp; 72h–120h Early Intervention Timeline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10728655" cy="2011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362895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F2C59"/>
                </a:solidFill>
              </a:defRPr>
            </a:pPr>
            <a:r>
              <a:t>PROVEN 72h–120h (3–5 DAY) PRE-EMPTIVE ACTION TIMELINE</a:t>
            </a:r>
          </a:p>
          <a:p>
            <a:pPr>
              <a:spcBef>
                <a:spcPts val="200"/>
              </a:spcBef>
              <a:defRPr sz="950" b="1">
                <a:solidFill>
                  <a:srgbClr val="EA580C"/>
                </a:solidFill>
              </a:defRPr>
            </a:pPr>
            <a:r>
              <a:t>• D-5 (120h Lead): </a:t>
            </a:r>
            <a:r>
              <a:rPr b="0">
                <a:solidFill>
                  <a:srgbClr val="1E293B"/>
                </a:solidFill>
              </a:rPr>
              <a:t>NWP forecast detects moisture surge &amp; high radiation. UTCI indicates 'Very Strong Stress' (42°C). Early municipal advisory issued.</a:t>
            </a:r>
          </a:p>
          <a:p>
            <a:pPr>
              <a:spcBef>
                <a:spcPts val="200"/>
              </a:spcBef>
              <a:defRPr sz="950" b="1">
                <a:solidFill>
                  <a:srgbClr val="EA580C"/>
                </a:solidFill>
              </a:defRPr>
            </a:pPr>
            <a:r>
              <a:t>• D-3 (72h Lead): </a:t>
            </a:r>
            <a:r>
              <a:rPr b="0">
                <a:solidFill>
                  <a:srgbClr val="1E293B"/>
                </a:solidFill>
              </a:rPr>
              <a:t>Cumulative heat persistence detected. High-vulnerability wards (slums, labor hubs) flagged for targeted water tanker routing &amp; cooling centers.</a:t>
            </a:r>
          </a:p>
          <a:p>
            <a:pPr>
              <a:spcBef>
                <a:spcPts val="200"/>
              </a:spcBef>
              <a:defRPr sz="950" b="1">
                <a:solidFill>
                  <a:srgbClr val="DC2626"/>
                </a:solidFill>
              </a:defRPr>
            </a:pPr>
            <a:r>
              <a:t>• D-2 (48h Lead): </a:t>
            </a:r>
            <a:r>
              <a:rPr b="0">
                <a:solidFill>
                  <a:srgbClr val="1E293B"/>
                </a:solidFill>
              </a:rPr>
              <a:t>Automated bilingual bulletins sent to DISCOMs for grid load preparation and Health Departments for ORS/cooling ward staging.</a:t>
            </a:r>
          </a:p>
          <a:p>
            <a:pPr>
              <a:spcBef>
                <a:spcPts val="200"/>
              </a:spcBef>
              <a:defRPr sz="950" b="1">
                <a:solidFill>
                  <a:srgbClr val="DC2626"/>
                </a:solidFill>
              </a:defRPr>
            </a:pPr>
            <a:r>
              <a:t>• D-1 (24h Lead): </a:t>
            </a:r>
            <a:r>
              <a:rPr b="0">
                <a:solidFill>
                  <a:srgbClr val="1E293B"/>
                </a:solidFill>
              </a:rPr>
              <a:t>Mandatory NIOSH work-rest schedules published for gig platforms (Zomato/Swiggy) and construction sites (labor halt 11 AM–4 PM).</a:t>
            </a:r>
          </a:p>
          <a:p>
            <a:pPr>
              <a:spcBef>
                <a:spcPts val="200"/>
              </a:spcBef>
              <a:defRPr sz="950" b="1">
                <a:solidFill>
                  <a:srgbClr val="16A34A"/>
                </a:solidFill>
              </a:defRPr>
            </a:pPr>
            <a:r>
              <a:t>• D-Day (Peak): </a:t>
            </a:r>
            <a:r>
              <a:rPr b="0">
                <a:solidFill>
                  <a:srgbClr val="1E293B"/>
                </a:solidFill>
              </a:rPr>
              <a:t>Extreme heatwave peaks. Because interventions were pre-positioned 72h–120h prior, mass-casualty surge is successfully averted.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703320"/>
            <a:ext cx="2029968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94760"/>
            <a:ext cx="18470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Municipal Corporations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Ward-level prioritization for water tankers, cool roofs, and emergency misting centers.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3703320"/>
            <a:ext cx="2029968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3794760"/>
            <a:ext cx="18470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C2626"/>
                </a:solidFill>
              </a:defRPr>
            </a:pPr>
            <a:r>
              <a:t>Health Departments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Hospital surge bed activation, emergency IV fluid prepositioning, and heatstroke triage.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65776" y="3703320"/>
            <a:ext cx="2029968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57216" y="3794760"/>
            <a:ext cx="18470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</a:defRPr>
            </a:pPr>
            <a:r>
              <a:t>Disaster Management (NDMA)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Automated activation of city Heat Action Plans (HAP) based on physiological triggers.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32904" y="3703320"/>
            <a:ext cx="2029968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24344" y="3794760"/>
            <a:ext cx="18470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6A34A"/>
                </a:solidFill>
              </a:defRPr>
            </a:pPr>
            <a:r>
              <a:t>Outdoor &amp; Gig Workers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Enforceable NIOSH work-rest cycles and hydration quotas for delivery, construction, and police.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00032" y="3703320"/>
            <a:ext cx="2029968" cy="2880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F2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91472" y="3794760"/>
            <a:ext cx="1847088" cy="2697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F2C59"/>
                </a:solidFill>
              </a:defRPr>
            </a:pPr>
            <a:r>
              <a:t>Citizen Public Alerts</a:t>
            </a:r>
          </a:p>
          <a:p>
            <a:pPr>
              <a:spcBef>
                <a:spcPts val="400"/>
              </a:spcBef>
              <a:defRPr sz="850">
                <a:solidFill>
                  <a:srgbClr val="1E293B"/>
                </a:solidFill>
              </a:defRPr>
            </a:pPr>
            <a:r>
              <a:t>Bilingual localized WhatsApp/Telegram warnings enabling vulnerable families to stay safe.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10728655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EA580C"/>
                </a:solidFill>
                <a:latin typeface="Arial"/>
              </a:defRPr>
            </a:pPr>
            <a:r>
              <a:t>SMART INDIA HACKATHON 2026  •  OFFICIAL IDEA PRESENTATION  •  SLIDE 6/6</a:t>
            </a:r>
          </a:p>
          <a:p>
            <a:pPr>
              <a:spcBef>
                <a:spcPts val="200"/>
              </a:spcBef>
              <a:defRPr sz="1800" b="1">
                <a:solidFill>
                  <a:srgbClr val="FFFFFF"/>
                </a:solidFill>
                <a:latin typeface="Arial"/>
              </a:defRPr>
            </a:pPr>
            <a:r>
              <a:t>RESEARCH &amp; 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8655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F2C59"/>
                </a:solidFill>
                <a:latin typeface="Arial"/>
              </a:defRPr>
            </a:pPr>
            <a:r>
              <a:t>Authoritative Scientific Grounding &amp; Literature Baseline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54480"/>
            <a:ext cx="52120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645920"/>
            <a:ext cx="493776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EA580C"/>
                </a:solidFill>
              </a:defRPr>
            </a:pPr>
            <a:r>
              <a:t>1. GOVERNMENT &amp; METEOROLOGICAL STANDARDS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IMD Heatwave Guidance: </a:t>
            </a:r>
            <a:r>
              <a:rPr b="0">
                <a:solidFill>
                  <a:srgbClr val="1E293B"/>
                </a:solidFill>
              </a:rPr>
              <a:t>Official definitions, districtwise alerts &amp; experimental heat index guidance.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NCMRWF NWP System: </a:t>
            </a:r>
            <a:r>
              <a:rPr b="0">
                <a:solidFill>
                  <a:srgbClr val="1E293B"/>
                </a:solidFill>
              </a:rPr>
              <a:t>Target operational modeling framework and global ensemble forecast stream.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NDMA &amp; NCDC Guidelines: </a:t>
            </a:r>
            <a:r>
              <a:rPr b="0">
                <a:solidFill>
                  <a:srgbClr val="1E293B"/>
                </a:solidFill>
              </a:rPr>
              <a:t>National Action Plan for Heat-Related Illnesses (NPCCHH, 2024).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48095" y="1554480"/>
            <a:ext cx="52120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85255" y="1645920"/>
            <a:ext cx="493776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</a:defRPr>
            </a:pPr>
            <a:r>
              <a:t>2. THERMAL STRESS &amp; PHYSIOLOGICAL SCIENCE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UTCI Consortium (WMO): </a:t>
            </a:r>
            <a:r>
              <a:rPr b="0">
                <a:solidFill>
                  <a:srgbClr val="1E293B"/>
                </a:solidFill>
              </a:rPr>
              <a:t>Fiala multi-node thermophysiological polynomial (Bröde et al. / Jäger 2012).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ISO 7243:2017 / NIOSH: </a:t>
            </a:r>
            <a:r>
              <a:rPr b="0">
                <a:solidFill>
                  <a:srgbClr val="1E293B"/>
                </a:solidFill>
              </a:rPr>
              <a:t>Occupational exposure criteria for hot environments (CDC/NIOSH Pub 2016-106).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Psychrometric Formulations: </a:t>
            </a:r>
            <a:r>
              <a:rPr b="0">
                <a:solidFill>
                  <a:srgbClr val="1E293B"/>
                </a:solidFill>
              </a:rPr>
              <a:t>Stull (2011) natural wet bulb and Liljegren (2008) outdoor globe radiation.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3840479"/>
            <a:ext cx="493776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6A34A"/>
                </a:solidFill>
              </a:defRPr>
            </a:pPr>
            <a:r>
              <a:t>3. EPIDEMIOLOGICAL BENCHMARKS &amp; VALIDATION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Azhar et al. (2014) PLoS ONE: </a:t>
            </a:r>
            <a:r>
              <a:rPr b="0">
                <a:solidFill>
                  <a:srgbClr val="1E293B"/>
                </a:solidFill>
              </a:rPr>
              <a:t>Documented 1,344 excess deaths (43.1% surge) during Ahmedabad 2010 heatwave.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Mazdiyasni et al. (2017) PNAS: </a:t>
            </a:r>
            <a:r>
              <a:rPr b="0">
                <a:solidFill>
                  <a:srgbClr val="1E293B"/>
                </a:solidFill>
              </a:rPr>
              <a:t>50-year Indian analysis proving +0.5°C rise leads to 146% surge in mass mortality events.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WHO Heat &amp; Health Evidence: </a:t>
            </a:r>
            <a:r>
              <a:rPr b="0">
                <a:solidFill>
                  <a:srgbClr val="1E293B"/>
                </a:solidFill>
              </a:rPr>
              <a:t>Established empirical links between sustained thermal stress and cardiovascular collapse.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095" y="3749039"/>
            <a:ext cx="5212080" cy="2057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5255" y="3840479"/>
            <a:ext cx="4937760" cy="1874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DC2626"/>
                </a:solidFill>
              </a:defRPr>
            </a:pPr>
            <a:r>
              <a:t>4. OPEN TIER-1 DATA SOURCES &amp; BENCHMARKS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NASA POWER (LaRC MERRA-2): </a:t>
            </a:r>
            <a:r>
              <a:rPr b="0">
                <a:solidFill>
                  <a:srgbClr val="1E293B"/>
                </a:solidFill>
              </a:rPr>
              <a:t>40-year hourly/daily climatological normals for robust baseline departure analysis.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Open-Meteo NWP Forecast: </a:t>
            </a:r>
            <a:r>
              <a:rPr b="0">
                <a:solidFill>
                  <a:srgbClr val="1E293B"/>
                </a:solidFill>
              </a:rPr>
              <a:t>5-day hourly high-resolution weather variables without proprietary credentials.</a:t>
            </a:r>
          </a:p>
          <a:p>
            <a:pPr>
              <a:spcBef>
                <a:spcPts val="200"/>
              </a:spcBef>
              <a:defRPr sz="850" b="1">
                <a:solidFill>
                  <a:srgbClr val="0F2C59"/>
                </a:solidFill>
              </a:defRPr>
            </a:pPr>
            <a:r>
              <a:t>• Census India 2011 PCA: </a:t>
            </a:r>
            <a:r>
              <a:rPr b="0">
                <a:solidFill>
                  <a:srgbClr val="1E293B"/>
                </a:solidFill>
              </a:rPr>
              <a:t>Authoritative open demographic baseline for ward-level vulnerability mapping.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943600"/>
            <a:ext cx="10728655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989320"/>
            <a:ext cx="1036289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950" b="1">
                <a:solidFill>
                  <a:srgbClr val="0F2C59"/>
                </a:solidFill>
              </a:defRPr>
            </a:pPr>
            <a:r>
              <a:t>RESEARCH GAP SOLVED: Existing systems provide either macro-weather forecasts OR static vulnerability maps. ThermoShield operationalizes the complete unified pipeline: Forecast → Physiological Thermal Stress → Demographic Vulnerability → Ward Risk → Automated Action.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