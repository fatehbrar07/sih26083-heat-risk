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8961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D4E89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pic>
        <p:nvPicPr>
          <p:cNvPr id="3" name="Picture 2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28600"/>
            <a:ext cx="1920240" cy="7223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0584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5" name="Picture 4" descr="sih_hex_graph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554480"/>
            <a:ext cx="4480560" cy="4910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645920"/>
            <a:ext cx="62179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0000"/>
                </a:solidFill>
                <a:latin typeface="Arial"/>
              </a:defRPr>
            </a:pPr>
            <a:r>
              <a:t>• Problem Statement ID – </a:t>
            </a:r>
            <a:r>
              <a:rPr b="0">
                <a:solidFill>
                  <a:srgbClr val="1D4E89"/>
                </a:solidFill>
              </a:rPr>
              <a:t>SIH26083</a:t>
            </a:r>
          </a:p>
          <a:p>
            <a:pPr>
              <a:spcBef>
                <a:spcPts val="800"/>
              </a:spcBef>
              <a:defRPr sz="1200" b="1">
                <a:solidFill>
                  <a:srgbClr val="000000"/>
                </a:solidFill>
                <a:latin typeface="Arial"/>
              </a:defRPr>
            </a:pPr>
            <a:r>
              <a:t>• Problem Statement Title- </a:t>
            </a:r>
            <a:r>
              <a:rPr b="0">
                <a:solidFill>
                  <a:srgbClr val="000000"/>
                </a:solidFill>
              </a:rPr>
              <a:t>Extreme Heatwave Early Warning and Human Thermal Stress Index</a:t>
            </a:r>
          </a:p>
          <a:p>
            <a:pPr>
              <a:spcBef>
                <a:spcPts val="800"/>
              </a:spcBef>
              <a:defRPr sz="1200" b="1">
                <a:solidFill>
                  <a:srgbClr val="000000"/>
                </a:solidFill>
                <a:latin typeface="Arial"/>
              </a:defRPr>
            </a:pPr>
            <a:r>
              <a:t>• Theme- </a:t>
            </a:r>
            <a:r>
              <a:rPr b="0">
                <a:solidFill>
                  <a:srgbClr val="000000"/>
                </a:solidFill>
              </a:rPr>
              <a:t>Disaster Management</a:t>
            </a:r>
          </a:p>
          <a:p>
            <a:pPr>
              <a:spcBef>
                <a:spcPts val="800"/>
              </a:spcBef>
              <a:defRPr sz="1200" b="1">
                <a:solidFill>
                  <a:srgbClr val="000000"/>
                </a:solidFill>
                <a:latin typeface="Arial"/>
              </a:defRPr>
            </a:pPr>
            <a:r>
              <a:t>• PS Category- </a:t>
            </a:r>
            <a:r>
              <a:rPr b="0">
                <a:solidFill>
                  <a:srgbClr val="000000"/>
                </a:solidFill>
              </a:rPr>
              <a:t>Software</a:t>
            </a:r>
          </a:p>
          <a:p>
            <a:pPr>
              <a:spcBef>
                <a:spcPts val="800"/>
              </a:spcBef>
              <a:defRPr sz="1200" b="1">
                <a:solidFill>
                  <a:srgbClr val="000000"/>
                </a:solidFill>
                <a:latin typeface="Arial"/>
              </a:defRPr>
            </a:pPr>
            <a:r>
              <a:t>• Organization- </a:t>
            </a:r>
            <a:r>
              <a:rPr b="0">
                <a:solidFill>
                  <a:srgbClr val="000000"/>
                </a:solidFill>
              </a:rPr>
              <a:t>Ministry of Earth Sciences (MoES) / NCMRWF</a:t>
            </a:r>
          </a:p>
          <a:p>
            <a:pPr>
              <a:spcBef>
                <a:spcPts val="800"/>
              </a:spcBef>
              <a:defRPr sz="1200" b="1">
                <a:solidFill>
                  <a:srgbClr val="000000"/>
                </a:solidFill>
                <a:latin typeface="Arial"/>
              </a:defRPr>
            </a:pPr>
            <a:r>
              <a:t>• Team ID- </a:t>
            </a:r>
            <a:r>
              <a:rPr b="0">
                <a:solidFill>
                  <a:srgbClr val="1D4E89"/>
                </a:solidFill>
              </a:rPr>
              <a:t>[YOUR REGISTERED TEAM ID]</a:t>
            </a:r>
          </a:p>
          <a:p>
            <a:pPr>
              <a:spcBef>
                <a:spcPts val="800"/>
              </a:spcBef>
              <a:defRPr sz="1200" b="1">
                <a:solidFill>
                  <a:srgbClr val="000000"/>
                </a:solidFill>
                <a:latin typeface="Arial"/>
              </a:defRPr>
            </a:pPr>
            <a:r>
              <a:t>• Team Name (Registered on portal)- </a:t>
            </a:r>
            <a:r>
              <a:rPr b="0">
                <a:solidFill>
                  <a:srgbClr val="1D4E89"/>
                </a:solidFill>
              </a:rPr>
              <a:t>ThermoShield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212080"/>
            <a:ext cx="6035040" cy="118872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1D4E89"/>
                </a:solidFill>
              </a:defRPr>
            </a:pPr>
            <a:r>
              <a:t>PROPOSED SYSTEM: ThermoShield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AI-Driven Human Heat Risk &amp; Biometeorological Early Warning OS</a:t>
            </a:r>
            <a:br/>
            <a:r>
              <a:t>From Weather Forecasts → Physiological Thermal Stress → Hyper-Local Ward Action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82880"/>
            <a:ext cx="137160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Thermo-</a:t>
            </a:r>
          </a:p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"/>
            <a:ext cx="761969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IDEA TITLE: THERMOSHIELD — AI-DRIVEN HUMAN HEAT RISK OS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920240" cy="7223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051560"/>
            <a:ext cx="10728655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 u="sng">
                <a:solidFill>
                  <a:srgbClr val="1D4E89"/>
                </a:solidFill>
                <a:latin typeface="Arial"/>
              </a:defRPr>
            </a:pPr>
            <a:r>
              <a:t>❖  Proposed Solution (Describe your Idea/Solution/Prototype)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42900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1581912"/>
            <a:ext cx="3282696" cy="384048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D4E89"/>
                </a:solidFill>
              </a:defRPr>
            </a:pPr>
            <a:r>
              <a:t>• Detailed Explanation of the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315468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4E89"/>
                </a:solidFill>
              </a:defRPr>
            </a:pPr>
            <a:r>
              <a:t>❖  Dual-Branch Ingestion: </a:t>
            </a:r>
            <a:r>
              <a:rPr b="0">
                <a:solidFill>
                  <a:srgbClr val="1E293B"/>
                </a:solidFill>
              </a:rPr>
              <a:t>Fuses 5-Day hourly NWP forecasts (T, RH, Wind, Solar Radiation) with Census 2011 PCA ward demographics.</a:t>
            </a:r>
          </a:p>
          <a:p>
            <a:pPr>
              <a:spcBef>
                <a:spcPts val="400"/>
              </a:spcBef>
              <a:defRPr sz="900" b="1">
                <a:solidFill>
                  <a:srgbClr val="1D4E89"/>
                </a:solidFill>
              </a:defRPr>
            </a:pPr>
            <a:r>
              <a:t>❖  UTCI Physiological Engine: </a:t>
            </a:r>
            <a:r>
              <a:rPr b="0">
                <a:solidFill>
                  <a:srgbClr val="1E293B"/>
                </a:solidFill>
              </a:rPr>
              <a:t>Universal Thermal Climate Index (6th-order polynomial based on Fiala 187-node human body model).</a:t>
            </a:r>
          </a:p>
          <a:p>
            <a:pPr>
              <a:spcBef>
                <a:spcPts val="400"/>
              </a:spcBef>
              <a:defRPr sz="900" b="1">
                <a:solidFill>
                  <a:srgbClr val="1D4E89"/>
                </a:solidFill>
              </a:defRPr>
            </a:pPr>
            <a:r>
              <a:t>❖  ISO 7243 WBGT: </a:t>
            </a:r>
            <a:r>
              <a:rPr b="0">
                <a:solidFill>
                  <a:srgbClr val="1E293B"/>
                </a:solidFill>
              </a:rPr>
              <a:t>Natural wet bulb (Stull) and globe temperature (Liljegren) for occupational and outdoor labor heat stress.</a:t>
            </a:r>
          </a:p>
          <a:p>
            <a:pPr>
              <a:spcBef>
                <a:spcPts val="400"/>
              </a:spcBef>
              <a:defRPr sz="900" b="1">
                <a:solidFill>
                  <a:srgbClr val="1D4E89"/>
                </a:solidFill>
              </a:defRPr>
            </a:pPr>
            <a:r>
              <a:t>❖  Multi-Day Persistence Penalty: </a:t>
            </a:r>
            <a:r>
              <a:rPr b="0">
                <a:solidFill>
                  <a:srgbClr val="1E293B"/>
                </a:solidFill>
              </a:rPr>
              <a:t>Applies exponential duration multiplier (Dmult) and uncooled night penalty (Tmin &gt; 28°C).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508760"/>
            <a:ext cx="342900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3128" y="1581912"/>
            <a:ext cx="3282696" cy="384048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D4E89"/>
                </a:solidFill>
              </a:defRPr>
            </a:pPr>
            <a:r>
              <a:t>• How It Addresses 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057400"/>
            <a:ext cx="315468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4E89"/>
                </a:solidFill>
              </a:defRPr>
            </a:pPr>
            <a:r>
              <a:t>❖  Human Impact vs Raw Weather: </a:t>
            </a:r>
            <a:r>
              <a:rPr b="0">
                <a:solidFill>
                  <a:srgbClr val="1E293B"/>
                </a:solidFill>
              </a:rPr>
              <a:t>Overcomes the deadly flaw of dry-bulb warnings where 40°C with high humidity breaks thermoregulation.</a:t>
            </a:r>
          </a:p>
          <a:p>
            <a:pPr>
              <a:spcBef>
                <a:spcPts val="400"/>
              </a:spcBef>
              <a:defRPr sz="900" b="1">
                <a:solidFill>
                  <a:srgbClr val="1D4E89"/>
                </a:solidFill>
              </a:defRPr>
            </a:pPr>
            <a:r>
              <a:t>❖  Hyper-Local Ward Granularity: </a:t>
            </a:r>
            <a:r>
              <a:rPr b="0">
                <a:solidFill>
                  <a:srgbClr val="1E293B"/>
                </a:solidFill>
              </a:rPr>
              <a:t>Differentiates shaded affluent residential areas from informal settlements with tin roofs and high worker density.</a:t>
            </a:r>
          </a:p>
          <a:p>
            <a:pPr>
              <a:spcBef>
                <a:spcPts val="400"/>
              </a:spcBef>
              <a:defRPr sz="900" b="1">
                <a:solidFill>
                  <a:srgbClr val="1D4E89"/>
                </a:solidFill>
              </a:defRPr>
            </a:pPr>
            <a:r>
              <a:t>❖  Epidemiological Grounding: </a:t>
            </a:r>
            <a:r>
              <a:rPr b="0">
                <a:solidFill>
                  <a:srgbClr val="1E293B"/>
                </a:solidFill>
              </a:rPr>
              <a:t>Calibrated against Indian heat-mortality literature (Azhar et al. 2014 &amp; Mazdiyasni et al. 2017).</a:t>
            </a:r>
          </a:p>
          <a:p>
            <a:pPr>
              <a:spcBef>
                <a:spcPts val="400"/>
              </a:spcBef>
              <a:defRPr sz="900" b="1">
                <a:solidFill>
                  <a:srgbClr val="1D4E89"/>
                </a:solidFill>
              </a:defRPr>
            </a:pPr>
            <a:r>
              <a:t>❖  Relative Risk Indexing: </a:t>
            </a:r>
            <a:r>
              <a:rPr b="0">
                <a:solidFill>
                  <a:srgbClr val="1E293B"/>
                </a:solidFill>
              </a:rPr>
              <a:t>Bounded 0–100 Human Heat-Health Risk Score replacing uncalibrated death claims.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2" y="1508760"/>
            <a:ext cx="342900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01584" y="1581912"/>
            <a:ext cx="3282696" cy="384048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D4E89"/>
                </a:solidFill>
              </a:defRPr>
            </a:pPr>
            <a:r>
              <a:t>• Innovation and Uniqueness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2057400"/>
            <a:ext cx="315468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1D4E89"/>
                </a:solidFill>
              </a:defRPr>
            </a:pPr>
            <a:r>
              <a:t>❖  72h–120h Pre-Emptive Lead Time: </a:t>
            </a:r>
            <a:r>
              <a:rPr b="0">
                <a:solidFill>
                  <a:srgbClr val="1E293B"/>
                </a:solidFill>
              </a:rPr>
              <a:t>3–5 day anticipation enabling municipal water tankers and cooling shelters to be prepositioned.</a:t>
            </a:r>
          </a:p>
          <a:p>
            <a:pPr>
              <a:spcBef>
                <a:spcPts val="400"/>
              </a:spcBef>
              <a:defRPr sz="900" b="1">
                <a:solidFill>
                  <a:srgbClr val="1D4E89"/>
                </a:solidFill>
              </a:defRPr>
            </a:pPr>
            <a:r>
              <a:t>❖  Automated Multi-Sector Triggers: </a:t>
            </a:r>
            <a:r>
              <a:rPr b="0">
                <a:solidFill>
                  <a:srgbClr val="1E293B"/>
                </a:solidFill>
              </a:rPr>
              <a:t>Converts risk into hospital surge bed alerts, DISCOM load warnings, and NIOSH labor halts (11 AM–4 PM).</a:t>
            </a:r>
          </a:p>
          <a:p>
            <a:pPr>
              <a:spcBef>
                <a:spcPts val="400"/>
              </a:spcBef>
              <a:defRPr sz="900" b="1">
                <a:solidFill>
                  <a:srgbClr val="1D4E89"/>
                </a:solidFill>
              </a:defRPr>
            </a:pPr>
            <a:r>
              <a:t>❖  Bilingual Public Advisories: </a:t>
            </a:r>
            <a:r>
              <a:rPr b="0">
                <a:solidFill>
                  <a:srgbClr val="1E293B"/>
                </a:solidFill>
              </a:rPr>
              <a:t>Plain-language vernacular WhatsApp/Telegram warnings in Hindi and English.</a:t>
            </a:r>
          </a:p>
          <a:p>
            <a:pPr>
              <a:spcBef>
                <a:spcPts val="400"/>
              </a:spcBef>
              <a:defRPr sz="900" b="1">
                <a:solidFill>
                  <a:srgbClr val="1D4E89"/>
                </a:solidFill>
              </a:defRPr>
            </a:pPr>
            <a:r>
              <a:t>❖  High-Performance Open Stack: </a:t>
            </a:r>
            <a:r>
              <a:rPr b="0">
                <a:solidFill>
                  <a:srgbClr val="1E293B"/>
                </a:solidFill>
              </a:rPr>
              <a:t>25 production REST APIs with sub-second latency and zero proprietary software licensing.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897880"/>
            <a:ext cx="10728655" cy="45720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D4E89"/>
                </a:solidFill>
              </a:defRPr>
            </a:pPr>
            <a:r>
              <a:t>KEY USP: Not another static heat map — an automated, end-to-end impact-to-action intelligence OS for heatwave resilience.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82880"/>
            <a:ext cx="137160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Thermo-</a:t>
            </a:r>
          </a:p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"/>
            <a:ext cx="761969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920240" cy="7223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0515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D4E89"/>
                </a:solidFill>
                <a:latin typeface="Arial"/>
              </a:defRPr>
            </a:pPr>
            <a:r>
              <a:t>• Methodology and Process for Implementation (Flow Chart &amp; Working Prototype Architecture)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2542032" cy="3154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1490472"/>
            <a:ext cx="2395728" cy="34747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EA580C"/>
                </a:solidFill>
              </a:defRPr>
            </a:pPr>
            <a:r>
              <a:t>1. DATA 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920240"/>
            <a:ext cx="2322576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1E293B"/>
                </a:solidFill>
              </a:defRPr>
            </a:pPr>
            <a:r>
              <a:t>• Open-Meteo 0.1° NWP 5-Day Hourly Forecasts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NASA POWER 40-Yr Climatology Normal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Census 2011 PCA Ward Demographics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Satellite LST &amp; NDVI Surface Grid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417320"/>
            <a:ext cx="2542032" cy="3154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29584" y="1490472"/>
            <a:ext cx="2395728" cy="347472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6A34A"/>
                </a:solidFill>
              </a:defRPr>
            </a:pPr>
            <a:r>
              <a:t>2. THERMAL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920240"/>
            <a:ext cx="2322576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1E293B"/>
                </a:solidFill>
              </a:defRPr>
            </a:pPr>
            <a:r>
              <a:t>• UTCI 6th-Order Polynomial (Fiala 187-Node)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ISO 7243 WBGT Psychrometrics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Stull Tw &amp; Liljegren Tg Equations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Multi-Day Persistence Multiplier (Dmult)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417320"/>
            <a:ext cx="2542032" cy="3154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54496" y="1490472"/>
            <a:ext cx="2395728" cy="347472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DC2626"/>
                </a:solidFill>
              </a:defRPr>
            </a:pPr>
            <a:r>
              <a:t>3. AI RISK &amp; HVI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1920240"/>
            <a:ext cx="2322576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1E293B"/>
                </a:solidFill>
              </a:defRPr>
            </a:pPr>
            <a:r>
              <a:t>• Demographic Vulnerability (HVI)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Elderly &amp; Outdoor Labor Density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Slum Housing &amp; Canopy Deficit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Normalized 0–100 Heat-Health Score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417320"/>
            <a:ext cx="2542032" cy="3154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79408" y="1490472"/>
            <a:ext cx="2395728" cy="347472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D4E89"/>
                </a:solidFill>
              </a:defRPr>
            </a:pPr>
            <a:r>
              <a:t>4. ACTION &amp; GIS DELIVERY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984" y="1920240"/>
            <a:ext cx="2322576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1E293B"/>
                </a:solidFill>
              </a:defRPr>
            </a:pPr>
            <a:r>
              <a:t>• Interactive Leaflet GIS Choropleth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25 Production REST APIs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Automated NDMA Action Playbooks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Hospital Surge Bed Triggers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709160"/>
            <a:ext cx="10728655" cy="1645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4E89"/>
                </a:solidFill>
              </a:defRPr>
            </a:pPr>
            <a:r>
              <a:t>• Technologies to be used (Languages, Frameworks, Libraries &amp; Infrastructure):</a:t>
            </a:r>
          </a:p>
          <a:p>
            <a:pPr>
              <a:spcBef>
                <a:spcPts val="200"/>
              </a:spcBef>
              <a:defRPr sz="900" b="1">
                <a:solidFill>
                  <a:srgbClr val="1D4E89"/>
                </a:solidFill>
              </a:defRPr>
            </a:pPr>
            <a:r>
              <a:t>❖  Backend &amp; REST APIs: </a:t>
            </a:r>
            <a:r>
              <a:rPr b="0">
                <a:solidFill>
                  <a:srgbClr val="1E293B"/>
                </a:solidFill>
              </a:rPr>
              <a:t>Python 3.11, FastAPI, Pydantic v2, Uvicorn, AsyncIO (25 REST production endpoints)</a:t>
            </a:r>
          </a:p>
          <a:p>
            <a:pPr>
              <a:spcBef>
                <a:spcPts val="200"/>
              </a:spcBef>
              <a:defRPr sz="900" b="1">
                <a:solidFill>
                  <a:srgbClr val="1D4E89"/>
                </a:solidFill>
              </a:defRPr>
            </a:pPr>
            <a:r>
              <a:t>❖  Biometeorological &amp; GIS Engine: </a:t>
            </a:r>
            <a:r>
              <a:rPr b="0">
                <a:solidFill>
                  <a:srgbClr val="1E293B"/>
                </a:solidFill>
              </a:rPr>
              <a:t>NumPy, Pandas, GeoPandas, Shapely, Scipy (UTCI 6th-order polynomial &amp; ISO 7243 psychrometrics)</a:t>
            </a:r>
          </a:p>
          <a:p>
            <a:pPr>
              <a:spcBef>
                <a:spcPts val="200"/>
              </a:spcBef>
              <a:defRPr sz="900" b="1">
                <a:solidFill>
                  <a:srgbClr val="1D4E89"/>
                </a:solidFill>
              </a:defRPr>
            </a:pPr>
            <a:r>
              <a:t>❖  Web GIS &amp; Visualization: </a:t>
            </a:r>
            <a:r>
              <a:rPr b="0">
                <a:solidFill>
                  <a:srgbClr val="1E293B"/>
                </a:solidFill>
              </a:rPr>
              <a:t>Leaflet.js (Choropleth GIS), Chart.js (5-Day Trend Curves), HTML5/CSS3 Responsive UI</a:t>
            </a:r>
          </a:p>
          <a:p>
            <a:pPr>
              <a:spcBef>
                <a:spcPts val="200"/>
              </a:spcBef>
              <a:defRPr sz="900" b="1">
                <a:solidFill>
                  <a:srgbClr val="1D4E89"/>
                </a:solidFill>
              </a:defRPr>
            </a:pPr>
            <a:r>
              <a:t>❖  Data Ingestion &amp; Deployment: </a:t>
            </a:r>
            <a:r>
              <a:rPr b="0">
                <a:solidFill>
                  <a:srgbClr val="1E293B"/>
                </a:solidFill>
              </a:rPr>
              <a:t>Open-Meteo NWP, NASA POWER MERRA-2, Census India PCA, Docker, Linux VPS (Oracle Linux)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82880"/>
            <a:ext cx="137160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Thermo-</a:t>
            </a:r>
          </a:p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"/>
            <a:ext cx="761969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920240" cy="7223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005840"/>
            <a:ext cx="10728655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D4E89"/>
                </a:solidFill>
              </a:defRPr>
            </a:pPr>
            <a:r>
              <a:t>• Analysis of the Feasibility of the Idea</a:t>
            </a:r>
          </a:p>
          <a:p>
            <a:pPr>
              <a:spcBef>
                <a:spcPts val="200"/>
              </a:spcBef>
              <a:defRPr sz="900">
                <a:solidFill>
                  <a:srgbClr val="1E293B"/>
                </a:solidFill>
              </a:defRPr>
            </a:pPr>
            <a:r>
              <a:t>The ThermoShield platform is highly feasible due to open, keyless Tier-1 atmospheric data pipelines (Open-Meteo 0.1° NWP hourly forecasts and NASA POWER MERRA-2 40-year climatological normals) and validated biometeorological formulations (WMO UTCI polynomial &amp; ISO 7243 WBGT). Integrating Census 2011 PCA demographics enables hyper-local ward-level vulnerability mapping without waiting for restricted government permissions.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6858000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6492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C2626"/>
                </a:solidFill>
              </a:defRPr>
            </a:pPr>
            <a:r>
              <a:t>• Potential Challenges &amp; Risks                     • Strategies for Overcoming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Data Heterogeneity (0.1° Grid vs Wards)
</a:t>
            </a:r>
            <a:r>
              <a:rPr sz="900" b="1">
                <a:solidFill>
                  <a:srgbClr val="16A34A"/>
                </a:solidFill>
              </a:rPr>
              <a:t>   ➔  Spatial Harmonization &amp; Polygon Attribution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30168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Confidential Hospital Mortality Records
</a:t>
            </a:r>
            <a:r>
              <a:rPr sz="900" b="1">
                <a:solidFill>
                  <a:srgbClr val="16A34A"/>
                </a:solidFill>
              </a:rPr>
              <a:t>   ➔  Epidemiological Calibration (Azhar 2014 &amp; Mazdiyasni 2017)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88536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Model Overfitting / False Death Claims
</a:t>
            </a:r>
            <a:r>
              <a:rPr sz="900" b="1">
                <a:solidFill>
                  <a:srgbClr val="16A34A"/>
                </a:solidFill>
              </a:rPr>
              <a:t>   ➔  Bounded 0–100 Human Heat-Health Risk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46904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False Alarm Fatigue (Single Spikes)
</a:t>
            </a:r>
            <a:r>
              <a:rPr sz="900" b="1">
                <a:solidFill>
                  <a:srgbClr val="16A34A"/>
                </a:solidFill>
              </a:rPr>
              <a:t>   ➔  Compound Multi-Day Persistence Multiplier (Dmult)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605272"/>
            <a:ext cx="6492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DC2626"/>
                </a:solidFill>
              </a:rPr>
              <a:t>• Uncooled Nighttime Strain (Tmin &gt; 28°C)
</a:t>
            </a:r>
            <a:r>
              <a:rPr sz="900" b="1">
                <a:solidFill>
                  <a:srgbClr val="16A34A"/>
                </a:solidFill>
              </a:rPr>
              <a:t>   ➔  Explicit Nocturnal Recovery Penalty Algorithm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468880"/>
            <a:ext cx="3687775" cy="3886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D4E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4E89"/>
                </a:solidFill>
              </a:defRPr>
            </a:pPr>
            <a:r>
              <a:t>• Target Users &amp; Viability:</a:t>
            </a:r>
          </a:p>
          <a:p>
            <a:pPr>
              <a:spcBef>
                <a:spcPts val="500"/>
              </a:spcBef>
              <a:defRPr sz="900" b="1">
                <a:solidFill>
                  <a:srgbClr val="1D4E89"/>
                </a:solidFill>
              </a:defRPr>
            </a:pPr>
            <a:r>
              <a:t>➢  Municipal Corporations &amp; Smart Cities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ward-level water tankers, cool roofs &amp; cooling centers.</a:t>
            </a:r>
          </a:p>
          <a:p>
            <a:pPr>
              <a:spcBef>
                <a:spcPts val="500"/>
              </a:spcBef>
              <a:defRPr sz="900" b="1">
                <a:solidFill>
                  <a:srgbClr val="1D4E89"/>
                </a:solidFill>
              </a:defRPr>
            </a:pPr>
            <a:r>
              <a:t>➢  Health Departments &amp; Hospitals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heatstroke emergency ward &amp; IV fluid prepositioning.</a:t>
            </a:r>
          </a:p>
          <a:p>
            <a:pPr>
              <a:spcBef>
                <a:spcPts val="500"/>
              </a:spcBef>
              <a:defRPr sz="900" b="1">
                <a:solidFill>
                  <a:srgbClr val="1D4E89"/>
                </a:solidFill>
              </a:defRPr>
            </a:pPr>
            <a:r>
              <a:t>➢  State Disaster Management (SDMA / NDMA)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automated Heat Action Plan (HAP) trigger activation.</a:t>
            </a:r>
          </a:p>
          <a:p>
            <a:pPr>
              <a:spcBef>
                <a:spcPts val="500"/>
              </a:spcBef>
              <a:defRPr sz="900" b="1">
                <a:solidFill>
                  <a:srgbClr val="1D4E89"/>
                </a:solidFill>
              </a:defRPr>
            </a:pPr>
            <a:r>
              <a:t>➢  Gig Platforms &amp; Construction Sector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mandatory NIOSH labor halt (11 AM–4 PM) compliance.</a:t>
            </a:r>
          </a:p>
          <a:p>
            <a:pPr>
              <a:spcBef>
                <a:spcPts val="500"/>
              </a:spcBef>
              <a:defRPr sz="900" b="1">
                <a:solidFill>
                  <a:srgbClr val="1D4E89"/>
                </a:solidFill>
              </a:defRPr>
            </a:pPr>
            <a:r>
              <a:t>➢  DISCOMs &amp; Power Utilities</a:t>
            </a:r>
          </a:p>
          <a:p>
            <a:pPr>
              <a:defRPr sz="800">
                <a:solidFill>
                  <a:srgbClr val="475569"/>
                </a:solidFill>
              </a:defRPr>
            </a:pPr>
            <a:r>
              <a:t>    For predictive grid load planning during peak cooling demand.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82880"/>
            <a:ext cx="137160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Thermo-</a:t>
            </a:r>
          </a:p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"/>
            <a:ext cx="761969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920240" cy="7223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914400"/>
            <a:ext cx="1072865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D4E89"/>
                </a:solidFill>
              </a:defRPr>
            </a:pPr>
            <a:r>
              <a:t>• Potential Impact on the Target Audience (Municipalities, Hospitals, Gig Workers &amp; Vulnerable Citizens)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137160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D4E89"/>
                </a:solidFill>
              </a:defRPr>
            </a:pPr>
            <a:r>
              <a:t>72h–120h (3–5 DAY) PRE-EMPTIVE HEAT ACTION TIMELINE: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</a:defRPr>
            </a:pPr>
            <a:r>
              <a:t>• 120h (D-5): NWP model flags thermal moisture surge → Early municipal advisory &amp; DISCOM grid warnings issued</a:t>
            </a:r>
            <a:br/>
            <a:r>
              <a:t>• 72h (D-3): Cumulative heat persistence detected → Water tankers and mobile misting units dispatched to high-risk slums</a:t>
            </a:r>
            <a:br/>
            <a:r>
              <a:t>• 48h (D-2): Hospital surge beds &amp; ice-bath cooling centers staged; emergency ORS supplies prepositioned</a:t>
            </a:r>
            <a:br/>
            <a:r>
              <a:t>• 24h (D-1): Mandatory NIOSH labor halts mandated for construction &amp; delivery workers during peak hours (11 AM–4 PM)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8036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• Social Benefits</a:t>
            </a:r>
          </a:p>
          <a:p>
            <a:pPr>
              <a:spcBef>
                <a:spcPts val="400"/>
              </a:spcBef>
              <a:defRPr sz="850" b="1">
                <a:solidFill>
                  <a:srgbClr val="1D4E89"/>
                </a:solidFill>
              </a:defRPr>
            </a:pPr>
            <a:r>
              <a:t>▪  Protects Vulnerable Citizens: </a:t>
            </a:r>
            <a:r>
              <a:rPr b="0">
                <a:solidFill>
                  <a:srgbClr val="1E293B"/>
                </a:solidFill>
              </a:rPr>
              <a:t>Dramatically reduces heatstroke morbidity among elderly, children, and chronic disease patients.</a:t>
            </a:r>
          </a:p>
          <a:p>
            <a:pPr>
              <a:spcBef>
                <a:spcPts val="400"/>
              </a:spcBef>
              <a:defRPr sz="850" b="1">
                <a:solidFill>
                  <a:srgbClr val="1D4E89"/>
                </a:solidFill>
              </a:defRPr>
            </a:pPr>
            <a:r>
              <a:t>▪  Protects Informal Laborers: </a:t>
            </a:r>
            <a:r>
              <a:rPr b="0">
                <a:solidFill>
                  <a:srgbClr val="1E293B"/>
                </a:solidFill>
              </a:rPr>
              <a:t>Enforces humane work-rest cycles for delivery and construction workers.</a:t>
            </a:r>
          </a:p>
          <a:p>
            <a:pPr>
              <a:spcBef>
                <a:spcPts val="400"/>
              </a:spcBef>
              <a:defRPr sz="850" b="1">
                <a:solidFill>
                  <a:srgbClr val="1D4E89"/>
                </a:solidFill>
              </a:defRPr>
            </a:pPr>
            <a:r>
              <a:t>▪  Bilingual Public Alerts: </a:t>
            </a:r>
            <a:r>
              <a:rPr b="0">
                <a:solidFill>
                  <a:srgbClr val="1E293B"/>
                </a:solidFill>
              </a:rPr>
              <a:t>Delivers plain-language vernacular guidance via SMS/WhatsApp to eliminate technical barriers.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288036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16A34A"/>
                </a:solidFill>
              </a:defRPr>
            </a:pPr>
            <a:r>
              <a:t>• Economic Benefits</a:t>
            </a:r>
          </a:p>
          <a:p>
            <a:pPr>
              <a:spcBef>
                <a:spcPts val="400"/>
              </a:spcBef>
              <a:defRPr sz="850" b="1">
                <a:solidFill>
                  <a:srgbClr val="1D4E89"/>
                </a:solidFill>
              </a:defRPr>
            </a:pPr>
            <a:r>
              <a:t>▪  Prevents Productivity Loss: </a:t>
            </a:r>
            <a:r>
              <a:rPr b="0">
                <a:solidFill>
                  <a:srgbClr val="1E293B"/>
                </a:solidFill>
              </a:rPr>
              <a:t>Mitigates lost labor hours through scheduled morning/evening shifts ($3.8B/yr India heat loss).</a:t>
            </a:r>
          </a:p>
          <a:p>
            <a:pPr>
              <a:spcBef>
                <a:spcPts val="400"/>
              </a:spcBef>
              <a:defRPr sz="850" b="1">
                <a:solidFill>
                  <a:srgbClr val="1D4E89"/>
                </a:solidFill>
              </a:defRPr>
            </a:pPr>
            <a:r>
              <a:t>▪  Optimized Relief Routing: </a:t>
            </a:r>
            <a:r>
              <a:rPr b="0">
                <a:solidFill>
                  <a:srgbClr val="1E293B"/>
                </a:solidFill>
              </a:rPr>
              <a:t>Avoids wasteful blanket relief by targeting water tankers to high-vulnerability wards.</a:t>
            </a:r>
          </a:p>
          <a:p>
            <a:pPr>
              <a:spcBef>
                <a:spcPts val="400"/>
              </a:spcBef>
              <a:defRPr sz="850" b="1">
                <a:solidFill>
                  <a:srgbClr val="1D4E89"/>
                </a:solidFill>
              </a:defRPr>
            </a:pPr>
            <a:r>
              <a:t>▪  Reduces Emergency Care Costs: </a:t>
            </a:r>
            <a:r>
              <a:rPr b="0">
                <a:solidFill>
                  <a:srgbClr val="1E293B"/>
                </a:solidFill>
              </a:rPr>
              <a:t>Pre-empts severe multi-organ failure and ICU hospitalization surges.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2" y="2880360"/>
            <a:ext cx="34290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100" b="1">
                <a:solidFill>
                  <a:srgbClr val="EA580C"/>
                </a:solidFill>
              </a:defRPr>
            </a:pPr>
            <a:r>
              <a:t>• Environmental &amp; Urban Benefits</a:t>
            </a:r>
          </a:p>
          <a:p>
            <a:pPr>
              <a:spcBef>
                <a:spcPts val="400"/>
              </a:spcBef>
              <a:defRPr sz="850" b="1">
                <a:solidFill>
                  <a:srgbClr val="1D4E89"/>
                </a:solidFill>
              </a:defRPr>
            </a:pPr>
            <a:r>
              <a:t>▪  Urban Heat Island (UHI) Mapping: </a:t>
            </a:r>
            <a:r>
              <a:rPr b="0">
                <a:solidFill>
                  <a:srgbClr val="1E293B"/>
                </a:solidFill>
              </a:rPr>
              <a:t>Identifies micro-urban hot spots and green canopy deficits.</a:t>
            </a:r>
          </a:p>
          <a:p>
            <a:pPr>
              <a:spcBef>
                <a:spcPts val="400"/>
              </a:spcBef>
              <a:defRPr sz="850" b="1">
                <a:solidFill>
                  <a:srgbClr val="1D4E89"/>
                </a:solidFill>
              </a:defRPr>
            </a:pPr>
            <a:r>
              <a:t>▪  Sustainable Urban Planning: </a:t>
            </a:r>
            <a:r>
              <a:rPr b="0">
                <a:solidFill>
                  <a:srgbClr val="1E293B"/>
                </a:solidFill>
              </a:rPr>
              <a:t>Guides long-term municipal cool roof installations and tree planting programs.</a:t>
            </a:r>
          </a:p>
          <a:p>
            <a:pPr>
              <a:spcBef>
                <a:spcPts val="400"/>
              </a:spcBef>
              <a:defRPr sz="850" b="1">
                <a:solidFill>
                  <a:srgbClr val="1D4E89"/>
                </a:solidFill>
              </a:defRPr>
            </a:pPr>
            <a:r>
              <a:t>▪  Effective Climate Resilience: </a:t>
            </a:r>
            <a:r>
              <a:rPr b="0">
                <a:solidFill>
                  <a:srgbClr val="1E293B"/>
                </a:solidFill>
              </a:rPr>
              <a:t>Operationalizes national disaster mitigation at municipal ward scale.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82880"/>
            <a:ext cx="137160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Thermo-</a:t>
            </a:r>
          </a:p>
          <a:p>
            <a:pPr algn="ctr">
              <a:defRPr sz="950" b="1">
                <a:solidFill>
                  <a:srgbClr val="000000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"/>
            <a:ext cx="761969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920240" cy="7223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9144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D4E89"/>
                </a:solidFill>
              </a:defRPr>
            </a:pPr>
            <a:r>
              <a:t>• Details / Links of the Reference and Research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D4E89"/>
                </a:solidFill>
              </a:defRPr>
            </a:pPr>
            <a:r>
              <a:t>• Universal Thermal Climate Index (UTCI) Consortium (WMO / COST Action 730): </a:t>
            </a:r>
            <a:r>
              <a:rPr b="0">
                <a:solidFill>
                  <a:srgbClr val="1E293B"/>
                </a:solidFill>
              </a:rPr>
              <a:t>"Development of the Universal Thermal Climate Index (UTCI)", Bröde, Fiala, Błażejczyk et al., Int J Biometeorol (2012). Multi-node thermophysiological polynomial.</a:t>
            </a:r>
          </a:p>
          <a:p>
            <a:pPr>
              <a:spcBef>
                <a:spcPts val="350"/>
              </a:spcBef>
              <a:defRPr sz="950" b="1">
                <a:solidFill>
                  <a:srgbClr val="1D4E89"/>
                </a:solidFill>
              </a:defRPr>
            </a:pPr>
            <a:r>
              <a:t>• Occupational Heat Stress Standards (ISO 7243:2017 &amp; NIOSH): </a:t>
            </a:r>
            <a:r>
              <a:rPr b="0">
                <a:solidFill>
                  <a:srgbClr val="1E293B"/>
                </a:solidFill>
              </a:rPr>
              <a:t>"Criteria for a Recommended Standard: Occupational Exposure to Heat and Hot Environments", CDC / NIOSH Publication No. 2016-106. Standard for WBGT thresholds &amp; work-rest cycles.</a:t>
            </a:r>
          </a:p>
          <a:p>
            <a:pPr>
              <a:spcBef>
                <a:spcPts val="350"/>
              </a:spcBef>
              <a:defRPr sz="950" b="1">
                <a:solidFill>
                  <a:srgbClr val="1D4E89"/>
                </a:solidFill>
              </a:defRPr>
            </a:pPr>
            <a:r>
              <a:t>• Epidemiological Heat-Health Grounding in Indian Cities (Ahmedabad 2010): </a:t>
            </a:r>
            <a:r>
              <a:rPr b="0">
                <a:solidFill>
                  <a:srgbClr val="1E293B"/>
                </a:solidFill>
              </a:rPr>
              <a:t>"The 2010 Ahmedabad Heat Wave: Impact on Mortality and Strategy for Resilient Cities", Azhar et al., PLoS ONE (2014). Documented 1,344 excess deaths (43.1% surge) validating humidity-heat risk.</a:t>
            </a:r>
          </a:p>
          <a:p>
            <a:pPr>
              <a:spcBef>
                <a:spcPts val="350"/>
              </a:spcBef>
              <a:defRPr sz="950" b="1">
                <a:solidFill>
                  <a:srgbClr val="1D4E89"/>
                </a:solidFill>
              </a:defRPr>
            </a:pPr>
            <a:r>
              <a:t>• 50-Year Multi-Decadal Heat Impact in India (PNAS Reference): </a:t>
            </a:r>
            <a:r>
              <a:rPr b="0">
                <a:solidFill>
                  <a:srgbClr val="1E293B"/>
                </a:solidFill>
              </a:rPr>
              <a:t>"Increasing probability of mass-fatality heatwaves in India", Mazdiyasni et al., Proceedings of the National Academy of Sciences (PNAS, 2017). Proving +0.5°C threshold triggers 146% rise in mass mortality events.</a:t>
            </a:r>
          </a:p>
          <a:p>
            <a:pPr>
              <a:spcBef>
                <a:spcPts val="350"/>
              </a:spcBef>
              <a:defRPr sz="950" b="1">
                <a:solidFill>
                  <a:srgbClr val="1D4E89"/>
                </a:solidFill>
              </a:defRPr>
            </a:pPr>
            <a:r>
              <a:t>• National Disaster &amp; Health Policy Guidelines (NDMA &amp; MoHFW NCDC): </a:t>
            </a:r>
            <a:r>
              <a:rPr b="0">
                <a:solidFill>
                  <a:srgbClr val="1E293B"/>
                </a:solidFill>
              </a:rPr>
              <a:t>"National Action Plan for Heat-Related Illnesses (NAP-HRI)", National Programme on Climate Change and Human Health (NPCCHH, 2024) &amp; NDMA National Heatwave Guidelines.</a:t>
            </a:r>
          </a:p>
          <a:p>
            <a:pPr>
              <a:spcBef>
                <a:spcPts val="350"/>
              </a:spcBef>
              <a:defRPr sz="950" b="1">
                <a:solidFill>
                  <a:srgbClr val="1D4E89"/>
                </a:solidFill>
              </a:defRPr>
            </a:pPr>
            <a:r>
              <a:t>• NWP &amp; Satellite Climatology Portals: </a:t>
            </a:r>
            <a:r>
              <a:rPr b="0">
                <a:solidFill>
                  <a:srgbClr val="1E293B"/>
                </a:solidFill>
              </a:rPr>
              <a:t>National Centre for Medium Range Weather Forecasting (NCMRWF) NWP Portal, IMD Geospatial Bulletins &amp; NASA POWER MERRA-2 (LaRC) 40-Year Climatological Baseline.</a:t>
            </a:r>
          </a:p>
          <a:p>
            <a:pPr>
              <a:spcBef>
                <a:spcPts val="350"/>
              </a:spcBef>
              <a:defRPr sz="950" b="1">
                <a:solidFill>
                  <a:srgbClr val="1D4E89"/>
                </a:solidFill>
              </a:defRPr>
            </a:pPr>
            <a:r>
              <a:t>• Demographic Spatial Vulnerability: </a:t>
            </a:r>
            <a:r>
              <a:rPr b="0">
                <a:solidFill>
                  <a:srgbClr val="1E293B"/>
                </a:solidFill>
              </a:rPr>
              <a:t>Census of India 2011 Primary Census Abstract (PCA) Ward Demographics &amp; Open-Meteo High-Resolution Numerical Weather Prediction 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73152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D4E89"/>
                </a:solidFill>
              </a:defRPr>
            </a:pPr>
            <a:r>
              <a:t>RESEARCH GAP SOLVED: Existing systems provide either macro-weather forecasts OR static vulnerability maps. ThermoShield operationalizes the complete unified pipeline: Forecast → Physiological Thermal Stress → Demographic Vulnerability → Ward Risk → Automated Action.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3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10528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